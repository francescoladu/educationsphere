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Manrope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1EAA5-5AE8-40F3-B3F7-A538995AFC76}" v="8" dt="2026-06-22T06:39:59.352"/>
    <p1510:client id="{FCBD2669-44ED-470C-A4CE-FC76697B4BB8}" v="18" dt="2026-06-22T07:34:25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32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AI-</a:t>
            </a:r>
            <a:r>
              <a:rPr lang="it-IT" err="1"/>
              <a:t>powered</a:t>
            </a:r>
            <a:r>
              <a:rPr lang="it-IT"/>
              <a:t> </a:t>
            </a:r>
            <a:r>
              <a:rPr lang="it-IT" err="1"/>
              <a:t>platform</a:t>
            </a:r>
            <a:r>
              <a:rPr lang="it-IT"/>
              <a:t> </a:t>
            </a:r>
            <a:r>
              <a:rPr lang="it-IT" err="1"/>
              <a:t>designed</a:t>
            </a:r>
            <a:r>
              <a:rPr lang="it-IT"/>
              <a:t> to support </a:t>
            </a:r>
            <a:r>
              <a:rPr lang="it-IT" err="1"/>
              <a:t>university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during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. The project </a:t>
            </a:r>
            <a:r>
              <a:rPr lang="it-IT" err="1"/>
              <a:t>was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by Mattia Correnti and Francesco Ladu.</a:t>
            </a:r>
          </a:p>
          <a:p>
            <a:r>
              <a:rPr lang="it-IT"/>
              <a:t>The </a:t>
            </a:r>
            <a:r>
              <a:rPr lang="it-IT" err="1"/>
              <a:t>main</a:t>
            </a:r>
            <a:r>
              <a:rPr lang="it-IT"/>
              <a:t> idea </a:t>
            </a:r>
            <a:r>
              <a:rPr lang="it-IT" err="1"/>
              <a:t>behind</a:t>
            </a:r>
            <a:r>
              <a:rPr lang="it-IT"/>
              <a:t> </a:t>
            </a:r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simple</a:t>
            </a:r>
            <a:r>
              <a:rPr lang="it-IT"/>
              <a:t>: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already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access to large </a:t>
            </a:r>
            <a:r>
              <a:rPr lang="it-IT" err="1"/>
              <a:t>amounts</a:t>
            </a:r>
            <a:r>
              <a:rPr lang="it-IT"/>
              <a:t> of information and </a:t>
            </a:r>
            <a:r>
              <a:rPr lang="it-IT" err="1"/>
              <a:t>many</a:t>
            </a:r>
            <a:r>
              <a:rPr lang="it-IT"/>
              <a:t> </a:t>
            </a:r>
            <a:r>
              <a:rPr lang="it-IT" err="1"/>
              <a:t>digital</a:t>
            </a:r>
            <a:r>
              <a:rPr lang="it-IT"/>
              <a:t> tools, </a:t>
            </a:r>
            <a:r>
              <a:rPr lang="it-IT" err="1"/>
              <a:t>but</a:t>
            </a:r>
            <a:r>
              <a:rPr lang="it-IT"/>
              <a:t> </a:t>
            </a:r>
            <a:r>
              <a:rPr lang="it-IT" err="1"/>
              <a:t>they</a:t>
            </a:r>
            <a:r>
              <a:rPr lang="it-IT"/>
              <a:t>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lack</a:t>
            </a:r>
            <a:r>
              <a:rPr lang="it-IT"/>
              <a:t> a </a:t>
            </a:r>
            <a:r>
              <a:rPr lang="it-IT" err="1"/>
              <a:t>structured</a:t>
            </a:r>
            <a:r>
              <a:rPr lang="it-IT"/>
              <a:t>, </a:t>
            </a:r>
            <a:r>
              <a:rPr lang="it-IT" err="1"/>
              <a:t>reliable</a:t>
            </a:r>
            <a:r>
              <a:rPr lang="it-IT"/>
              <a:t>, and </a:t>
            </a:r>
            <a:r>
              <a:rPr lang="it-IT" err="1"/>
              <a:t>personalized</a:t>
            </a:r>
            <a:r>
              <a:rPr lang="it-IT"/>
              <a:t> way to </a:t>
            </a:r>
            <a:r>
              <a:rPr lang="it-IT" err="1"/>
              <a:t>prepare</a:t>
            </a:r>
            <a:r>
              <a:rPr lang="it-IT"/>
              <a:t> for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exams</a:t>
            </a:r>
            <a:r>
              <a:rPr lang="it-IT"/>
              <a:t>.</a:t>
            </a:r>
          </a:p>
          <a:p>
            <a:r>
              <a:rPr lang="it-IT" err="1"/>
              <a:t>Our</a:t>
            </a:r>
            <a:r>
              <a:rPr lang="it-IT"/>
              <a:t> goal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therefore</a:t>
            </a:r>
            <a:r>
              <a:rPr lang="it-IT"/>
              <a:t> </a:t>
            </a:r>
            <a:r>
              <a:rPr lang="it-IT" err="1"/>
              <a:t>not</a:t>
            </a:r>
            <a:r>
              <a:rPr lang="it-IT"/>
              <a:t> to </a:t>
            </a:r>
            <a:r>
              <a:rPr lang="it-IT" err="1"/>
              <a:t>replace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, professors, or </a:t>
            </a:r>
            <a:r>
              <a:rPr lang="it-IT" err="1"/>
              <a:t>traditional</a:t>
            </a:r>
            <a:r>
              <a:rPr lang="it-IT"/>
              <a:t> </a:t>
            </a:r>
            <a:r>
              <a:rPr lang="it-IT" err="1"/>
              <a:t>studying</a:t>
            </a:r>
            <a:r>
              <a:rPr lang="it-IT"/>
              <a:t>. </a:t>
            </a:r>
            <a:r>
              <a:rPr lang="it-IT" err="1"/>
              <a:t>Instead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provide an </a:t>
            </a:r>
            <a:r>
              <a:rPr lang="it-IT" err="1"/>
              <a:t>intelligent</a:t>
            </a:r>
            <a:r>
              <a:rPr lang="it-IT"/>
              <a:t> study </a:t>
            </a:r>
            <a:r>
              <a:rPr lang="it-IT" err="1"/>
              <a:t>companion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helps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organize</a:t>
            </a:r>
            <a:r>
              <a:rPr lang="it-IT"/>
              <a:t>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, </a:t>
            </a:r>
            <a:r>
              <a:rPr lang="it-IT" err="1"/>
              <a:t>identify</a:t>
            </a:r>
            <a:r>
              <a:rPr lang="it-IT"/>
              <a:t>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weaknesses</a:t>
            </a:r>
            <a:r>
              <a:rPr lang="it-IT"/>
              <a:t>, and practice more </a:t>
            </a:r>
            <a:r>
              <a:rPr lang="it-IT" err="1"/>
              <a:t>effectively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The first </a:t>
            </a:r>
            <a:r>
              <a:rPr lang="it-IT" err="1"/>
              <a:t>problem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time management. Students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to </a:t>
            </a:r>
            <a:r>
              <a:rPr lang="it-IT" err="1"/>
              <a:t>manage</a:t>
            </a:r>
            <a:r>
              <a:rPr lang="it-IT"/>
              <a:t> </a:t>
            </a:r>
            <a:r>
              <a:rPr lang="it-IT" err="1"/>
              <a:t>several</a:t>
            </a:r>
            <a:r>
              <a:rPr lang="it-IT"/>
              <a:t> </a:t>
            </a:r>
            <a:r>
              <a:rPr lang="it-IT" err="1"/>
              <a:t>courses</a:t>
            </a:r>
            <a:r>
              <a:rPr lang="it-IT"/>
              <a:t>, </a:t>
            </a:r>
            <a:r>
              <a:rPr lang="it-IT" err="1"/>
              <a:t>assignments</a:t>
            </a:r>
            <a:r>
              <a:rPr lang="it-IT"/>
              <a:t>, and deadlines </a:t>
            </a:r>
            <a:r>
              <a:rPr lang="it-IT" err="1"/>
              <a:t>at</a:t>
            </a:r>
            <a:r>
              <a:rPr lang="it-IT"/>
              <a:t> the </a:t>
            </a:r>
            <a:r>
              <a:rPr lang="it-IT" err="1"/>
              <a:t>same</a:t>
            </a:r>
            <a:r>
              <a:rPr lang="it-IT"/>
              <a:t> time. </a:t>
            </a:r>
            <a:r>
              <a:rPr lang="it-IT" err="1"/>
              <a:t>Traditional</a:t>
            </a:r>
            <a:r>
              <a:rPr lang="it-IT"/>
              <a:t> </a:t>
            </a:r>
            <a:r>
              <a:rPr lang="it-IT" err="1"/>
              <a:t>calendars</a:t>
            </a:r>
            <a:r>
              <a:rPr lang="it-IT"/>
              <a:t> and </a:t>
            </a:r>
            <a:r>
              <a:rPr lang="it-IT" err="1"/>
              <a:t>fixed</a:t>
            </a:r>
            <a:r>
              <a:rPr lang="it-IT"/>
              <a:t> study plans are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flexible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 </a:t>
            </a:r>
            <a:r>
              <a:rPr lang="it-IT" err="1"/>
              <a:t>when</a:t>
            </a:r>
            <a:r>
              <a:rPr lang="it-IT"/>
              <a:t> a study session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missed</a:t>
            </a:r>
            <a:r>
              <a:rPr lang="it-IT"/>
              <a:t> or an </a:t>
            </a:r>
            <a:r>
              <a:rPr lang="it-IT" err="1"/>
              <a:t>unexpected</a:t>
            </a:r>
            <a:r>
              <a:rPr lang="it-IT"/>
              <a:t> task </a:t>
            </a:r>
            <a:r>
              <a:rPr lang="it-IT" err="1"/>
              <a:t>appears</a:t>
            </a:r>
            <a:r>
              <a:rPr lang="it-IT"/>
              <a:t>.</a:t>
            </a:r>
          </a:p>
          <a:p>
            <a:r>
              <a:rPr lang="it-IT"/>
              <a:t>The second </a:t>
            </a:r>
            <a:r>
              <a:rPr lang="it-IT" err="1"/>
              <a:t>problem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fragmentation</a:t>
            </a:r>
            <a:r>
              <a:rPr lang="it-IT"/>
              <a:t> of learning </a:t>
            </a:r>
            <a:r>
              <a:rPr lang="it-IT" err="1"/>
              <a:t>materials</a:t>
            </a:r>
            <a:r>
              <a:rPr lang="it-IT"/>
              <a:t>. Slides, books, </a:t>
            </a:r>
            <a:r>
              <a:rPr lang="it-IT" err="1"/>
              <a:t>lecture</a:t>
            </a:r>
            <a:r>
              <a:rPr lang="it-IT"/>
              <a:t> notes, recordings, and </a:t>
            </a:r>
            <a:r>
              <a:rPr lang="it-IT" err="1"/>
              <a:t>exercises</a:t>
            </a:r>
            <a:r>
              <a:rPr lang="it-IT"/>
              <a:t>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distributed</a:t>
            </a:r>
            <a:r>
              <a:rPr lang="it-IT"/>
              <a:t> </a:t>
            </a:r>
            <a:r>
              <a:rPr lang="it-IT" err="1"/>
              <a:t>across</a:t>
            </a:r>
            <a:r>
              <a:rPr lang="it-IT"/>
              <a:t>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platforms</a:t>
            </a:r>
            <a:r>
              <a:rPr lang="it-IT"/>
              <a:t>, making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difficult</a:t>
            </a:r>
            <a:r>
              <a:rPr lang="it-IT"/>
              <a:t> to </a:t>
            </a:r>
            <a:r>
              <a:rPr lang="it-IT" err="1"/>
              <a:t>understand</a:t>
            </a:r>
            <a:r>
              <a:rPr lang="it-IT"/>
              <a:t> </a:t>
            </a:r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</a:t>
            </a:r>
            <a:r>
              <a:rPr lang="it-IT" err="1"/>
              <a:t>studied</a:t>
            </a:r>
            <a:r>
              <a:rPr lang="it-IT"/>
              <a:t> first.</a:t>
            </a:r>
          </a:p>
          <a:p>
            <a:r>
              <a:rPr lang="it-IT"/>
              <a:t>The </a:t>
            </a:r>
            <a:r>
              <a:rPr lang="it-IT" err="1"/>
              <a:t>third</a:t>
            </a:r>
            <a:r>
              <a:rPr lang="it-IT"/>
              <a:t> </a:t>
            </a:r>
            <a:r>
              <a:rPr lang="it-IT" err="1"/>
              <a:t>problem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anxiety</a:t>
            </a:r>
            <a:r>
              <a:rPr lang="it-IT"/>
              <a:t>. Even after </a:t>
            </a:r>
            <a:r>
              <a:rPr lang="it-IT" err="1"/>
              <a:t>studying</a:t>
            </a:r>
            <a:r>
              <a:rPr lang="it-IT"/>
              <a:t> for </a:t>
            </a:r>
            <a:r>
              <a:rPr lang="it-IT" err="1"/>
              <a:t>several</a:t>
            </a:r>
            <a:r>
              <a:rPr lang="it-IT"/>
              <a:t> weeks,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may</a:t>
            </a:r>
            <a:r>
              <a:rPr lang="it-IT"/>
              <a:t> </a:t>
            </a:r>
            <a:r>
              <a:rPr lang="it-IT" err="1"/>
              <a:t>still</a:t>
            </a:r>
            <a:r>
              <a:rPr lang="it-IT"/>
              <a:t> be </a:t>
            </a:r>
            <a:r>
              <a:rPr lang="it-IT" err="1"/>
              <a:t>unsure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actual</a:t>
            </a:r>
            <a:r>
              <a:rPr lang="it-IT"/>
              <a:t> </a:t>
            </a:r>
            <a:r>
              <a:rPr lang="it-IT" err="1"/>
              <a:t>level</a:t>
            </a:r>
            <a:r>
              <a:rPr lang="it-IT"/>
              <a:t> of </a:t>
            </a:r>
            <a:r>
              <a:rPr lang="it-IT" err="1"/>
              <a:t>preparation</a:t>
            </a:r>
            <a:r>
              <a:rPr lang="it-IT"/>
              <a:t>.</a:t>
            </a:r>
          </a:p>
          <a:p>
            <a:r>
              <a:rPr lang="it-IT" err="1"/>
              <a:t>Finally</a:t>
            </a:r>
            <a:r>
              <a:rPr lang="it-IT"/>
              <a:t>, </a:t>
            </a:r>
            <a:r>
              <a:rPr lang="it-IT" err="1"/>
              <a:t>rigid</a:t>
            </a:r>
            <a:r>
              <a:rPr lang="it-IT"/>
              <a:t> </a:t>
            </a:r>
            <a:r>
              <a:rPr lang="it-IT" err="1"/>
              <a:t>routines</a:t>
            </a:r>
            <a:r>
              <a:rPr lang="it-IT"/>
              <a:t> and the </a:t>
            </a:r>
            <a:r>
              <a:rPr lang="it-IT" err="1"/>
              <a:t>absence</a:t>
            </a:r>
            <a:r>
              <a:rPr lang="it-IT"/>
              <a:t> of </a:t>
            </a:r>
            <a:r>
              <a:rPr lang="it-IT" err="1"/>
              <a:t>personalized</a:t>
            </a:r>
            <a:r>
              <a:rPr lang="it-IT"/>
              <a:t> </a:t>
            </a:r>
            <a:r>
              <a:rPr lang="it-IT" err="1"/>
              <a:t>guidance</a:t>
            </a:r>
            <a:r>
              <a:rPr lang="it-IT"/>
              <a:t> can lead to </a:t>
            </a:r>
            <a:r>
              <a:rPr lang="it-IT" err="1"/>
              <a:t>procrastination</a:t>
            </a:r>
            <a:r>
              <a:rPr lang="it-IT"/>
              <a:t> and burnout. </a:t>
            </a:r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aims</a:t>
            </a:r>
            <a:r>
              <a:rPr lang="it-IT"/>
              <a:t> to </a:t>
            </a:r>
            <a:r>
              <a:rPr lang="it-IT" err="1"/>
              <a:t>address</a:t>
            </a:r>
            <a:r>
              <a:rPr lang="it-IT"/>
              <a:t> </a:t>
            </a:r>
            <a:r>
              <a:rPr lang="it-IT" err="1"/>
              <a:t>these</a:t>
            </a:r>
            <a:r>
              <a:rPr lang="it-IT"/>
              <a:t> </a:t>
            </a:r>
            <a:r>
              <a:rPr lang="it-IT" err="1"/>
              <a:t>connected</a:t>
            </a:r>
            <a:r>
              <a:rPr lang="it-IT"/>
              <a:t> </a:t>
            </a:r>
            <a:r>
              <a:rPr lang="it-IT" err="1"/>
              <a:t>problems</a:t>
            </a:r>
            <a:r>
              <a:rPr lang="it-IT"/>
              <a:t> </a:t>
            </a:r>
            <a:r>
              <a:rPr lang="it-IT" err="1"/>
              <a:t>through</a:t>
            </a:r>
            <a:r>
              <a:rPr lang="it-IT"/>
              <a:t> one </a:t>
            </a:r>
            <a:r>
              <a:rPr lang="it-IT" err="1"/>
              <a:t>integrated</a:t>
            </a:r>
            <a:r>
              <a:rPr lang="it-IT"/>
              <a:t> </a:t>
            </a:r>
            <a:r>
              <a:rPr lang="it-IT" err="1"/>
              <a:t>platform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solution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EducationSphere</a:t>
            </a:r>
            <a:r>
              <a:rPr lang="it-IT"/>
              <a:t>, an AI </a:t>
            </a:r>
            <a:r>
              <a:rPr lang="it-IT" err="1"/>
              <a:t>platform</a:t>
            </a:r>
            <a:r>
              <a:rPr lang="it-IT"/>
              <a:t> for </a:t>
            </a:r>
            <a:r>
              <a:rPr lang="it-IT" err="1"/>
              <a:t>personalized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includes</a:t>
            </a:r>
            <a:r>
              <a:rPr lang="it-IT"/>
              <a:t> </a:t>
            </a:r>
            <a:r>
              <a:rPr lang="it-IT" err="1"/>
              <a:t>five</a:t>
            </a:r>
            <a:r>
              <a:rPr lang="it-IT"/>
              <a:t> </a:t>
            </a:r>
            <a:r>
              <a:rPr lang="it-IT" err="1"/>
              <a:t>main</a:t>
            </a:r>
            <a:r>
              <a:rPr lang="it-IT"/>
              <a:t> </a:t>
            </a:r>
            <a:r>
              <a:rPr lang="it-IT" err="1"/>
              <a:t>functionalities</a:t>
            </a:r>
            <a:r>
              <a:rPr lang="it-IT"/>
              <a:t>.</a:t>
            </a:r>
          </a:p>
          <a:p>
            <a:r>
              <a:rPr lang="it-IT"/>
              <a:t>The first </a:t>
            </a:r>
            <a:r>
              <a:rPr lang="it-IT" err="1"/>
              <a:t>is</a:t>
            </a:r>
            <a:r>
              <a:rPr lang="it-IT"/>
              <a:t> the Course-</a:t>
            </a:r>
            <a:r>
              <a:rPr lang="it-IT" err="1"/>
              <a:t>Grounded</a:t>
            </a:r>
            <a:r>
              <a:rPr lang="it-IT"/>
              <a:t> Tutor.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generates</a:t>
            </a:r>
            <a:r>
              <a:rPr lang="it-IT"/>
              <a:t> </a:t>
            </a:r>
            <a:r>
              <a:rPr lang="it-IT" err="1"/>
              <a:t>answers</a:t>
            </a:r>
            <a:r>
              <a:rPr lang="it-IT"/>
              <a:t>, </a:t>
            </a:r>
            <a:r>
              <a:rPr lang="it-IT" err="1"/>
              <a:t>summaries</a:t>
            </a:r>
            <a:r>
              <a:rPr lang="it-IT"/>
              <a:t>, </a:t>
            </a:r>
            <a:r>
              <a:rPr lang="it-IT" err="1"/>
              <a:t>quizzes</a:t>
            </a:r>
            <a:r>
              <a:rPr lang="it-IT"/>
              <a:t>, and </a:t>
            </a:r>
            <a:r>
              <a:rPr lang="it-IT" err="1"/>
              <a:t>explanations</a:t>
            </a:r>
            <a:r>
              <a:rPr lang="it-IT"/>
              <a:t> </a:t>
            </a:r>
            <a:r>
              <a:rPr lang="it-IT" err="1"/>
              <a:t>using</a:t>
            </a:r>
            <a:r>
              <a:rPr lang="it-IT"/>
              <a:t> the </a:t>
            </a:r>
            <a:r>
              <a:rPr lang="it-IT" err="1"/>
              <a:t>student’s</a:t>
            </a:r>
            <a:r>
              <a:rPr lang="it-IT"/>
              <a:t> </a:t>
            </a:r>
            <a:r>
              <a:rPr lang="it-IT" err="1"/>
              <a:t>actual</a:t>
            </a:r>
            <a:r>
              <a:rPr lang="it-IT"/>
              <a:t> </a:t>
            </a:r>
            <a:r>
              <a:rPr lang="it-IT" err="1"/>
              <a:t>course</a:t>
            </a:r>
            <a:r>
              <a:rPr lang="it-IT"/>
              <a:t> </a:t>
            </a:r>
            <a:r>
              <a:rPr lang="it-IT" err="1"/>
              <a:t>materials</a:t>
            </a:r>
            <a:r>
              <a:rPr lang="it-IT"/>
              <a:t> </a:t>
            </a:r>
            <a:r>
              <a:rPr lang="it-IT" err="1"/>
              <a:t>rather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relying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on </a:t>
            </a:r>
            <a:r>
              <a:rPr lang="it-IT" err="1"/>
              <a:t>generic</a:t>
            </a:r>
            <a:r>
              <a:rPr lang="it-IT"/>
              <a:t> information.</a:t>
            </a:r>
          </a:p>
          <a:p>
            <a:r>
              <a:rPr lang="it-IT"/>
              <a:t>The second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Twin AI,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simulates</a:t>
            </a:r>
            <a:r>
              <a:rPr lang="it-IT"/>
              <a:t> </a:t>
            </a:r>
            <a:r>
              <a:rPr lang="it-IT" err="1"/>
              <a:t>written</a:t>
            </a:r>
            <a:r>
              <a:rPr lang="it-IT"/>
              <a:t> and </a:t>
            </a:r>
            <a:r>
              <a:rPr lang="it-IT" err="1"/>
              <a:t>oral</a:t>
            </a:r>
            <a:r>
              <a:rPr lang="it-IT"/>
              <a:t> </a:t>
            </a:r>
            <a:r>
              <a:rPr lang="it-IT" err="1"/>
              <a:t>exams</a:t>
            </a:r>
            <a:r>
              <a:rPr lang="it-IT"/>
              <a:t> </a:t>
            </a:r>
            <a:r>
              <a:rPr lang="it-IT" err="1"/>
              <a:t>according</a:t>
            </a:r>
            <a:r>
              <a:rPr lang="it-IT"/>
              <a:t> to the </a:t>
            </a:r>
            <a:r>
              <a:rPr lang="it-IT" err="1"/>
              <a:t>structure</a:t>
            </a:r>
            <a:r>
              <a:rPr lang="it-IT"/>
              <a:t> and </a:t>
            </a:r>
            <a:r>
              <a:rPr lang="it-IT" err="1"/>
              <a:t>difficulty</a:t>
            </a:r>
            <a:r>
              <a:rPr lang="it-IT"/>
              <a:t> of the </a:t>
            </a:r>
            <a:r>
              <a:rPr lang="it-IT" err="1"/>
              <a:t>real</a:t>
            </a:r>
            <a:r>
              <a:rPr lang="it-IT"/>
              <a:t> </a:t>
            </a:r>
            <a:r>
              <a:rPr lang="it-IT" err="1"/>
              <a:t>course</a:t>
            </a:r>
            <a:r>
              <a:rPr lang="it-IT"/>
              <a:t>.</a:t>
            </a:r>
          </a:p>
          <a:p>
            <a:r>
              <a:rPr lang="it-IT"/>
              <a:t>The Knowledge Gap </a:t>
            </a:r>
            <a:r>
              <a:rPr lang="it-IT" err="1"/>
              <a:t>Map</a:t>
            </a:r>
            <a:r>
              <a:rPr lang="it-IT"/>
              <a:t> </a:t>
            </a:r>
            <a:r>
              <a:rPr lang="it-IT" err="1"/>
              <a:t>analyses</a:t>
            </a:r>
            <a:r>
              <a:rPr lang="it-IT"/>
              <a:t> quiz and </a:t>
            </a:r>
            <a:r>
              <a:rPr lang="it-IT" err="1"/>
              <a:t>simulation</a:t>
            </a:r>
            <a:r>
              <a:rPr lang="it-IT"/>
              <a:t> </a:t>
            </a:r>
            <a:r>
              <a:rPr lang="it-IT" err="1"/>
              <a:t>results</a:t>
            </a:r>
            <a:r>
              <a:rPr lang="it-IT"/>
              <a:t> to </a:t>
            </a:r>
            <a:r>
              <a:rPr lang="it-IT" err="1"/>
              <a:t>identify</a:t>
            </a:r>
            <a:r>
              <a:rPr lang="it-IT"/>
              <a:t> </a:t>
            </a:r>
            <a:r>
              <a:rPr lang="it-IT" err="1"/>
              <a:t>weak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, </a:t>
            </a:r>
            <a:r>
              <a:rPr lang="it-IT" err="1"/>
              <a:t>missing</a:t>
            </a:r>
            <a:r>
              <a:rPr lang="it-IT"/>
              <a:t> </a:t>
            </a:r>
            <a:r>
              <a:rPr lang="it-IT" err="1"/>
              <a:t>prerequisites</a:t>
            </a:r>
            <a:r>
              <a:rPr lang="it-IT"/>
              <a:t>, and </a:t>
            </a:r>
            <a:r>
              <a:rPr lang="it-IT" err="1"/>
              <a:t>reasoning</a:t>
            </a:r>
            <a:r>
              <a:rPr lang="it-IT"/>
              <a:t> </a:t>
            </a:r>
            <a:r>
              <a:rPr lang="it-IT" err="1"/>
              <a:t>errors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Adaptive</a:t>
            </a:r>
            <a:r>
              <a:rPr lang="it-IT"/>
              <a:t> Study Engine </a:t>
            </a:r>
            <a:r>
              <a:rPr lang="it-IT" err="1"/>
              <a:t>then</a:t>
            </a:r>
            <a:r>
              <a:rPr lang="it-IT"/>
              <a:t> </a:t>
            </a:r>
            <a:r>
              <a:rPr lang="it-IT" err="1"/>
              <a:t>uses</a:t>
            </a:r>
            <a:r>
              <a:rPr lang="it-IT"/>
              <a:t> </a:t>
            </a:r>
            <a:r>
              <a:rPr lang="it-IT" err="1"/>
              <a:t>this</a:t>
            </a:r>
            <a:r>
              <a:rPr lang="it-IT"/>
              <a:t> information to </a:t>
            </a:r>
            <a:r>
              <a:rPr lang="it-IT" err="1"/>
              <a:t>continuously</a:t>
            </a:r>
            <a:r>
              <a:rPr lang="it-IT"/>
              <a:t> update the </a:t>
            </a:r>
            <a:r>
              <a:rPr lang="it-IT" err="1"/>
              <a:t>student’s</a:t>
            </a:r>
            <a:r>
              <a:rPr lang="it-IT"/>
              <a:t> study plan </a:t>
            </a:r>
            <a:r>
              <a:rPr lang="it-IT" err="1"/>
              <a:t>according</a:t>
            </a:r>
            <a:r>
              <a:rPr lang="it-IT"/>
              <a:t> to the </a:t>
            </a:r>
            <a:r>
              <a:rPr lang="it-IT" err="1"/>
              <a:t>exam</a:t>
            </a:r>
            <a:r>
              <a:rPr lang="it-IT"/>
              <a:t> date, </a:t>
            </a:r>
            <a:r>
              <a:rPr lang="it-IT" err="1"/>
              <a:t>available</a:t>
            </a:r>
            <a:r>
              <a:rPr lang="it-IT"/>
              <a:t> time, and progress.</a:t>
            </a:r>
          </a:p>
          <a:p>
            <a:r>
              <a:rPr lang="it-IT" err="1"/>
              <a:t>Finally</a:t>
            </a:r>
            <a:r>
              <a:rPr lang="it-IT"/>
              <a:t>, the </a:t>
            </a:r>
            <a:r>
              <a:rPr lang="it-IT" err="1"/>
              <a:t>Accessible</a:t>
            </a:r>
            <a:r>
              <a:rPr lang="it-IT"/>
              <a:t> Learning Mode </a:t>
            </a:r>
            <a:r>
              <a:rPr lang="it-IT" err="1"/>
              <a:t>adapts</a:t>
            </a:r>
            <a:r>
              <a:rPr lang="it-IT"/>
              <a:t> </a:t>
            </a:r>
            <a:r>
              <a:rPr lang="it-IT" err="1"/>
              <a:t>materials</a:t>
            </a:r>
            <a:r>
              <a:rPr lang="it-IT"/>
              <a:t> and interactions for </a:t>
            </a:r>
            <a:r>
              <a:rPr lang="it-IT" err="1"/>
              <a:t>students</a:t>
            </a:r>
            <a:r>
              <a:rPr lang="it-IT"/>
              <a:t> with ADHD, </a:t>
            </a:r>
            <a:r>
              <a:rPr lang="it-IT" err="1"/>
              <a:t>dyslexia</a:t>
            </a:r>
            <a:r>
              <a:rPr lang="it-IT"/>
              <a:t>, </a:t>
            </a:r>
            <a:r>
              <a:rPr lang="it-IT" err="1"/>
              <a:t>dyscalculia</a:t>
            </a:r>
            <a:r>
              <a:rPr lang="it-IT"/>
              <a:t>, visual impairments, and </a:t>
            </a:r>
            <a:r>
              <a:rPr lang="it-IT" err="1"/>
              <a:t>other</a:t>
            </a:r>
            <a:r>
              <a:rPr lang="it-IT"/>
              <a:t> </a:t>
            </a:r>
            <a:r>
              <a:rPr lang="it-IT" err="1"/>
              <a:t>accessibility</a:t>
            </a:r>
            <a:r>
              <a:rPr lang="it-IT"/>
              <a:t> </a:t>
            </a:r>
            <a:r>
              <a:rPr lang="it-IT" err="1"/>
              <a:t>needs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</a:t>
            </a:r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operates</a:t>
            </a:r>
            <a:r>
              <a:rPr lang="it-IT"/>
              <a:t> in a </a:t>
            </a:r>
            <a:r>
              <a:rPr lang="it-IT" err="1"/>
              <a:t>highly</a:t>
            </a:r>
            <a:r>
              <a:rPr lang="it-IT"/>
              <a:t> competitive </a:t>
            </a:r>
            <a:r>
              <a:rPr lang="it-IT" err="1"/>
              <a:t>environment</a:t>
            </a:r>
            <a:r>
              <a:rPr lang="it-IT"/>
              <a:t>.</a:t>
            </a:r>
          </a:p>
          <a:p>
            <a:r>
              <a:rPr lang="it-IT"/>
              <a:t>The first group of competitors </a:t>
            </a:r>
            <a:r>
              <a:rPr lang="it-IT" err="1"/>
              <a:t>includes</a:t>
            </a:r>
            <a:r>
              <a:rPr lang="it-IT"/>
              <a:t> AI-native startups,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already</a:t>
            </a:r>
            <a:r>
              <a:rPr lang="it-IT"/>
              <a:t> </a:t>
            </a:r>
            <a:r>
              <a:rPr lang="it-IT" err="1"/>
              <a:t>offer</a:t>
            </a:r>
            <a:r>
              <a:rPr lang="it-IT"/>
              <a:t> AI-</a:t>
            </a:r>
            <a:r>
              <a:rPr lang="it-IT" err="1"/>
              <a:t>based</a:t>
            </a:r>
            <a:r>
              <a:rPr lang="it-IT"/>
              <a:t> study support. The second group </a:t>
            </a:r>
            <a:r>
              <a:rPr lang="it-IT" err="1"/>
              <a:t>includes</a:t>
            </a:r>
            <a:r>
              <a:rPr lang="it-IT"/>
              <a:t> </a:t>
            </a:r>
            <a:r>
              <a:rPr lang="it-IT" err="1"/>
              <a:t>established</a:t>
            </a:r>
            <a:r>
              <a:rPr lang="it-IT"/>
              <a:t> </a:t>
            </a:r>
            <a:r>
              <a:rPr lang="it-IT" err="1"/>
              <a:t>EdTech</a:t>
            </a:r>
            <a:r>
              <a:rPr lang="it-IT"/>
              <a:t> companies with large </a:t>
            </a:r>
            <a:r>
              <a:rPr lang="it-IT" err="1"/>
              <a:t>content</a:t>
            </a:r>
            <a:r>
              <a:rPr lang="it-IT"/>
              <a:t> libraries, strong brands, and </a:t>
            </a:r>
            <a:r>
              <a:rPr lang="it-IT" err="1"/>
              <a:t>existing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relationships</a:t>
            </a:r>
            <a:r>
              <a:rPr lang="it-IT"/>
              <a:t>.</a:t>
            </a:r>
          </a:p>
          <a:p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compete </a:t>
            </a:r>
            <a:r>
              <a:rPr lang="it-IT" err="1"/>
              <a:t>indirectly</a:t>
            </a:r>
            <a:r>
              <a:rPr lang="it-IT"/>
              <a:t> with general tools </a:t>
            </a:r>
            <a:r>
              <a:rPr lang="it-IT" err="1"/>
              <a:t>such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ChatGPT, YouTube, </a:t>
            </a:r>
            <a:r>
              <a:rPr lang="it-IT" err="1"/>
              <a:t>search</a:t>
            </a:r>
            <a:r>
              <a:rPr lang="it-IT"/>
              <a:t> </a:t>
            </a:r>
            <a:r>
              <a:rPr lang="it-IT" err="1"/>
              <a:t>engines</a:t>
            </a:r>
            <a:r>
              <a:rPr lang="it-IT"/>
              <a:t>, and online forums. </a:t>
            </a:r>
            <a:r>
              <a:rPr lang="it-IT" err="1"/>
              <a:t>Finally</a:t>
            </a:r>
            <a:r>
              <a:rPr lang="it-IT"/>
              <a:t>, </a:t>
            </a:r>
            <a:r>
              <a:rPr lang="it-IT" err="1"/>
              <a:t>traditional</a:t>
            </a:r>
            <a:r>
              <a:rPr lang="it-IT"/>
              <a:t> </a:t>
            </a:r>
            <a:r>
              <a:rPr lang="it-IT" err="1"/>
              <a:t>alternatives</a:t>
            </a:r>
            <a:r>
              <a:rPr lang="it-IT"/>
              <a:t> </a:t>
            </a:r>
            <a:r>
              <a:rPr lang="it-IT" err="1"/>
              <a:t>such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private tutors, </a:t>
            </a:r>
            <a:r>
              <a:rPr lang="it-IT" err="1"/>
              <a:t>textbooks</a:t>
            </a:r>
            <a:r>
              <a:rPr lang="it-IT"/>
              <a:t>, and </a:t>
            </a:r>
            <a:r>
              <a:rPr lang="it-IT" err="1"/>
              <a:t>university</a:t>
            </a:r>
            <a:r>
              <a:rPr lang="it-IT"/>
              <a:t> learning </a:t>
            </a:r>
            <a:r>
              <a:rPr lang="it-IT" err="1"/>
              <a:t>platforms</a:t>
            </a:r>
            <a:r>
              <a:rPr lang="it-IT"/>
              <a:t> </a:t>
            </a:r>
            <a:r>
              <a:rPr lang="it-IT" err="1"/>
              <a:t>remain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substitutes</a:t>
            </a:r>
            <a:r>
              <a:rPr lang="it-IT"/>
              <a:t>.</a:t>
            </a:r>
          </a:p>
          <a:p>
            <a:r>
              <a:rPr lang="it-IT"/>
              <a:t>For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reason</a:t>
            </a:r>
            <a:r>
              <a:rPr lang="it-IT"/>
              <a:t>, </a:t>
            </a:r>
            <a:r>
              <a:rPr lang="it-IT" err="1"/>
              <a:t>our</a:t>
            </a:r>
            <a:r>
              <a:rPr lang="it-IT"/>
              <a:t> competitive </a:t>
            </a:r>
            <a:r>
              <a:rPr lang="it-IT" err="1"/>
              <a:t>advantage</a:t>
            </a:r>
            <a:r>
              <a:rPr lang="it-IT"/>
              <a:t> </a:t>
            </a:r>
            <a:r>
              <a:rPr lang="it-IT" err="1"/>
              <a:t>cannot</a:t>
            </a:r>
            <a:r>
              <a:rPr lang="it-IT"/>
              <a:t> </a:t>
            </a:r>
            <a:r>
              <a:rPr lang="it-IT" err="1"/>
              <a:t>simply</a:t>
            </a:r>
            <a:r>
              <a:rPr lang="it-IT"/>
              <a:t> be the use of </a:t>
            </a:r>
            <a:r>
              <a:rPr lang="it-IT" err="1"/>
              <a:t>artificial</a:t>
            </a:r>
            <a:r>
              <a:rPr lang="it-IT"/>
              <a:t> intelligence.</a:t>
            </a:r>
          </a:p>
          <a:p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differentiates</a:t>
            </a:r>
            <a:r>
              <a:rPr lang="it-IT"/>
              <a:t> </a:t>
            </a:r>
            <a:r>
              <a:rPr lang="it-IT" err="1"/>
              <a:t>itself</a:t>
            </a:r>
            <a:r>
              <a:rPr lang="it-IT"/>
              <a:t> by </a:t>
            </a:r>
            <a:r>
              <a:rPr lang="it-IT" err="1"/>
              <a:t>offering</a:t>
            </a:r>
            <a:r>
              <a:rPr lang="it-IT"/>
              <a:t> a complete and </a:t>
            </a:r>
            <a:r>
              <a:rPr lang="it-IT" err="1"/>
              <a:t>guided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 </a:t>
            </a:r>
            <a:r>
              <a:rPr lang="it-IT" err="1"/>
              <a:t>process</a:t>
            </a:r>
            <a:r>
              <a:rPr lang="it-IT"/>
              <a:t> </a:t>
            </a:r>
            <a:r>
              <a:rPr lang="it-IT" err="1"/>
              <a:t>rather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isolated</a:t>
            </a:r>
            <a:r>
              <a:rPr lang="it-IT"/>
              <a:t> </a:t>
            </a:r>
            <a:r>
              <a:rPr lang="it-IT" err="1"/>
              <a:t>answers</a:t>
            </a:r>
            <a:r>
              <a:rPr lang="it-IT"/>
              <a:t>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provides</a:t>
            </a:r>
            <a:r>
              <a:rPr lang="it-IT"/>
              <a:t> </a:t>
            </a:r>
            <a:r>
              <a:rPr lang="it-IT" err="1"/>
              <a:t>adaptive</a:t>
            </a:r>
            <a:r>
              <a:rPr lang="it-IT"/>
              <a:t> </a:t>
            </a:r>
            <a:r>
              <a:rPr lang="it-IT" err="1"/>
              <a:t>explanations</a:t>
            </a:r>
            <a:r>
              <a:rPr lang="it-IT"/>
              <a:t>, </a:t>
            </a:r>
            <a:r>
              <a:rPr lang="it-IT" err="1"/>
              <a:t>realistic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simulations</a:t>
            </a:r>
            <a:r>
              <a:rPr lang="it-IT"/>
              <a:t>, and </a:t>
            </a:r>
            <a:r>
              <a:rPr lang="it-IT" err="1"/>
              <a:t>continuous</a:t>
            </a:r>
            <a:r>
              <a:rPr lang="it-IT"/>
              <a:t> progress tracking.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</a:t>
            </a:r>
            <a:r>
              <a:rPr lang="it-IT" err="1"/>
              <a:t>uses</a:t>
            </a:r>
            <a:r>
              <a:rPr lang="it-IT"/>
              <a:t> </a:t>
            </a:r>
            <a:r>
              <a:rPr lang="it-IT" err="1"/>
              <a:t>approved</a:t>
            </a:r>
            <a:r>
              <a:rPr lang="it-IT"/>
              <a:t> </a:t>
            </a:r>
            <a:r>
              <a:rPr lang="it-IT" err="1"/>
              <a:t>course</a:t>
            </a:r>
            <a:r>
              <a:rPr lang="it-IT"/>
              <a:t> </a:t>
            </a:r>
            <a:r>
              <a:rPr lang="it-IT" err="1"/>
              <a:t>materials</a:t>
            </a:r>
            <a:r>
              <a:rPr lang="it-IT"/>
              <a:t> and places </a:t>
            </a:r>
            <a:r>
              <a:rPr lang="it-IT" err="1"/>
              <a:t>particular</a:t>
            </a:r>
            <a:r>
              <a:rPr lang="it-IT"/>
              <a:t> </a:t>
            </a:r>
            <a:r>
              <a:rPr lang="it-IT" err="1"/>
              <a:t>attention</a:t>
            </a:r>
            <a:r>
              <a:rPr lang="it-IT"/>
              <a:t> on privacy, copyright, and </a:t>
            </a:r>
            <a:r>
              <a:rPr lang="it-IT" err="1"/>
              <a:t>institutional</a:t>
            </a:r>
            <a:r>
              <a:rPr lang="it-IT"/>
              <a:t> governance.”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</a:t>
            </a:r>
            <a:r>
              <a:rPr lang="it-IT" err="1"/>
              <a:t>Our</a:t>
            </a:r>
            <a:r>
              <a:rPr lang="it-IT"/>
              <a:t> Business Model Canvas follows </a:t>
            </a:r>
            <a:r>
              <a:rPr lang="it-IT" err="1"/>
              <a:t>mainly</a:t>
            </a:r>
            <a:r>
              <a:rPr lang="it-IT"/>
              <a:t> a B2B and B2B2C </a:t>
            </a:r>
            <a:r>
              <a:rPr lang="it-IT" err="1"/>
              <a:t>approach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final</a:t>
            </a:r>
            <a:r>
              <a:rPr lang="it-IT"/>
              <a:t> users are </a:t>
            </a:r>
            <a:r>
              <a:rPr lang="it-IT" err="1"/>
              <a:t>university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, </a:t>
            </a:r>
            <a:r>
              <a:rPr lang="it-IT" err="1"/>
              <a:t>including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 with </a:t>
            </a:r>
            <a:r>
              <a:rPr lang="it-IT" err="1"/>
              <a:t>accessibility</a:t>
            </a:r>
            <a:r>
              <a:rPr lang="it-IT"/>
              <a:t> </a:t>
            </a:r>
            <a:r>
              <a:rPr lang="it-IT" err="1"/>
              <a:t>needs</a:t>
            </a:r>
            <a:r>
              <a:rPr lang="it-IT"/>
              <a:t>. </a:t>
            </a:r>
            <a:r>
              <a:rPr lang="it-IT" err="1"/>
              <a:t>However</a:t>
            </a:r>
            <a:r>
              <a:rPr lang="it-IT"/>
              <a:t>, </a:t>
            </a:r>
            <a:r>
              <a:rPr lang="it-IT" err="1"/>
              <a:t>universities</a:t>
            </a:r>
            <a:r>
              <a:rPr lang="it-IT"/>
              <a:t>, </a:t>
            </a:r>
            <a:r>
              <a:rPr lang="it-IT" err="1"/>
              <a:t>disability</a:t>
            </a:r>
            <a:r>
              <a:rPr lang="it-IT"/>
              <a:t> offices, and tutoring services </a:t>
            </a:r>
            <a:r>
              <a:rPr lang="it-IT" err="1"/>
              <a:t>represent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customers and adoption partners.</a:t>
            </a:r>
          </a:p>
          <a:p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value</a:t>
            </a:r>
            <a:r>
              <a:rPr lang="it-IT"/>
              <a:t> </a:t>
            </a:r>
            <a:r>
              <a:rPr lang="it-IT" err="1"/>
              <a:t>proposition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to </a:t>
            </a:r>
            <a:r>
              <a:rPr lang="it-IT" err="1"/>
              <a:t>transform</a:t>
            </a:r>
            <a:r>
              <a:rPr lang="it-IT"/>
              <a:t>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 </a:t>
            </a:r>
            <a:r>
              <a:rPr lang="it-IT" err="1"/>
              <a:t>into</a:t>
            </a:r>
            <a:r>
              <a:rPr lang="it-IT"/>
              <a:t> a </a:t>
            </a:r>
            <a:r>
              <a:rPr lang="it-IT" err="1"/>
              <a:t>structured</a:t>
            </a:r>
            <a:r>
              <a:rPr lang="it-IT"/>
              <a:t> and </a:t>
            </a:r>
            <a:r>
              <a:rPr lang="it-IT" err="1"/>
              <a:t>personalized</a:t>
            </a:r>
            <a:r>
              <a:rPr lang="it-IT"/>
              <a:t> </a:t>
            </a:r>
            <a:r>
              <a:rPr lang="it-IT" err="1"/>
              <a:t>experience</a:t>
            </a:r>
            <a:r>
              <a:rPr lang="it-IT"/>
              <a:t>. Students </a:t>
            </a:r>
            <a:r>
              <a:rPr lang="it-IT" err="1"/>
              <a:t>receive</a:t>
            </a:r>
            <a:r>
              <a:rPr lang="it-IT"/>
              <a:t> </a:t>
            </a:r>
            <a:r>
              <a:rPr lang="it-IT" err="1"/>
              <a:t>course-based</a:t>
            </a:r>
            <a:r>
              <a:rPr lang="it-IT"/>
              <a:t> </a:t>
            </a:r>
            <a:r>
              <a:rPr lang="it-IT" err="1"/>
              <a:t>explanations</a:t>
            </a:r>
            <a:r>
              <a:rPr lang="it-IT"/>
              <a:t>, </a:t>
            </a:r>
            <a:r>
              <a:rPr lang="it-IT" err="1"/>
              <a:t>summaries</a:t>
            </a:r>
            <a:r>
              <a:rPr lang="it-IT"/>
              <a:t>, </a:t>
            </a:r>
            <a:r>
              <a:rPr lang="it-IT" err="1"/>
              <a:t>quizzes</a:t>
            </a:r>
            <a:r>
              <a:rPr lang="it-IT"/>
              <a:t>, </a:t>
            </a:r>
            <a:r>
              <a:rPr lang="it-IT" err="1"/>
              <a:t>simulations</a:t>
            </a:r>
            <a:r>
              <a:rPr lang="it-IT"/>
              <a:t>, and </a:t>
            </a:r>
            <a:r>
              <a:rPr lang="it-IT" err="1"/>
              <a:t>accessible</a:t>
            </a:r>
            <a:r>
              <a:rPr lang="it-IT"/>
              <a:t> learning formats.</a:t>
            </a:r>
          </a:p>
          <a:p>
            <a:r>
              <a:rPr lang="it-IT"/>
              <a:t>The </a:t>
            </a:r>
            <a:r>
              <a:rPr lang="it-IT" err="1"/>
              <a:t>main</a:t>
            </a:r>
            <a:r>
              <a:rPr lang="it-IT"/>
              <a:t> </a:t>
            </a:r>
            <a:r>
              <a:rPr lang="it-IT" err="1"/>
              <a:t>channels</a:t>
            </a:r>
            <a:r>
              <a:rPr lang="it-IT"/>
              <a:t> include </a:t>
            </a:r>
            <a:r>
              <a:rPr lang="it-IT" err="1"/>
              <a:t>university</a:t>
            </a:r>
            <a:r>
              <a:rPr lang="it-IT"/>
              <a:t> pilot projects, </a:t>
            </a:r>
            <a:r>
              <a:rPr lang="it-IT" err="1"/>
              <a:t>collaboration</a:t>
            </a:r>
            <a:r>
              <a:rPr lang="it-IT"/>
              <a:t> with </a:t>
            </a:r>
            <a:r>
              <a:rPr lang="it-IT" err="1"/>
              <a:t>disability</a:t>
            </a:r>
            <a:r>
              <a:rPr lang="it-IT"/>
              <a:t> and </a:t>
            </a:r>
            <a:r>
              <a:rPr lang="it-IT" err="1"/>
              <a:t>student</a:t>
            </a:r>
            <a:r>
              <a:rPr lang="it-IT"/>
              <a:t>-support offices, </a:t>
            </a:r>
            <a:r>
              <a:rPr lang="it-IT" err="1"/>
              <a:t>direct</a:t>
            </a:r>
            <a:r>
              <a:rPr lang="it-IT"/>
              <a:t> freemium access, social media, and </a:t>
            </a:r>
            <a:r>
              <a:rPr lang="it-IT" err="1"/>
              <a:t>student</a:t>
            </a:r>
            <a:r>
              <a:rPr lang="it-IT"/>
              <a:t> </a:t>
            </a:r>
            <a:r>
              <a:rPr lang="it-IT" err="1"/>
              <a:t>referrals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relationship</a:t>
            </a:r>
            <a:r>
              <a:rPr lang="it-IT"/>
              <a:t> with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continuous</a:t>
            </a:r>
            <a:r>
              <a:rPr lang="it-IT"/>
              <a:t>, </a:t>
            </a:r>
            <a:r>
              <a:rPr lang="it-IT" err="1"/>
              <a:t>personalized</a:t>
            </a:r>
            <a:r>
              <a:rPr lang="it-IT"/>
              <a:t>, and non-</a:t>
            </a:r>
            <a:r>
              <a:rPr lang="it-IT" err="1"/>
              <a:t>judgmental</a:t>
            </a:r>
            <a:r>
              <a:rPr lang="it-IT"/>
              <a:t>. With </a:t>
            </a:r>
            <a:r>
              <a:rPr lang="it-IT" err="1"/>
              <a:t>universities</a:t>
            </a:r>
            <a:r>
              <a:rPr lang="it-IT"/>
              <a:t>, the </a:t>
            </a:r>
            <a:r>
              <a:rPr lang="it-IT" err="1"/>
              <a:t>relationship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more consultative and </a:t>
            </a:r>
            <a:r>
              <a:rPr lang="it-IT" err="1"/>
              <a:t>evidence-based</a:t>
            </a:r>
            <a:r>
              <a:rPr lang="it-IT"/>
              <a:t>.</a:t>
            </a:r>
          </a:p>
          <a:p>
            <a:r>
              <a:rPr lang="it-IT"/>
              <a:t>Revenue </a:t>
            </a:r>
            <a:r>
              <a:rPr lang="it-IT" err="1"/>
              <a:t>would</a:t>
            </a:r>
            <a:r>
              <a:rPr lang="it-IT"/>
              <a:t> </a:t>
            </a:r>
            <a:r>
              <a:rPr lang="it-IT" err="1"/>
              <a:t>initially</a:t>
            </a:r>
            <a:r>
              <a:rPr lang="it-IT"/>
              <a:t> come from pilot </a:t>
            </a:r>
            <a:r>
              <a:rPr lang="it-IT" err="1"/>
              <a:t>contracts</a:t>
            </a:r>
            <a:r>
              <a:rPr lang="it-IT"/>
              <a:t> and </a:t>
            </a:r>
            <a:r>
              <a:rPr lang="it-IT" err="1"/>
              <a:t>later</a:t>
            </a:r>
            <a:r>
              <a:rPr lang="it-IT"/>
              <a:t> from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licences</a:t>
            </a:r>
            <a:r>
              <a:rPr lang="it-IT"/>
              <a:t>, </a:t>
            </a:r>
            <a:r>
              <a:rPr lang="it-IT" err="1"/>
              <a:t>supported</a:t>
            </a:r>
            <a:r>
              <a:rPr lang="it-IT"/>
              <a:t> by a freemium-to-premium plan for </a:t>
            </a:r>
            <a:r>
              <a:rPr lang="it-IT" err="1"/>
              <a:t>individual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“To </a:t>
            </a:r>
            <a:r>
              <a:rPr lang="it-IT" err="1"/>
              <a:t>deliver</a:t>
            </a:r>
            <a:r>
              <a:rPr lang="it-IT"/>
              <a:t>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value</a:t>
            </a:r>
            <a:r>
              <a:rPr lang="it-IT"/>
              <a:t>, </a:t>
            </a:r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requires</a:t>
            </a:r>
            <a:r>
              <a:rPr lang="it-IT"/>
              <a:t> </a:t>
            </a:r>
            <a:r>
              <a:rPr lang="it-IT" err="1"/>
              <a:t>several</a:t>
            </a:r>
            <a:r>
              <a:rPr lang="it-IT"/>
              <a:t> key partners.</a:t>
            </a:r>
          </a:p>
          <a:p>
            <a:r>
              <a:rPr lang="it-IT" err="1"/>
              <a:t>Universities</a:t>
            </a:r>
            <a:r>
              <a:rPr lang="it-IT"/>
              <a:t> and </a:t>
            </a:r>
            <a:r>
              <a:rPr lang="it-IT" err="1"/>
              <a:t>accessibility</a:t>
            </a:r>
            <a:r>
              <a:rPr lang="it-IT"/>
              <a:t> offices are </a:t>
            </a:r>
            <a:r>
              <a:rPr lang="it-IT" err="1"/>
              <a:t>essential</a:t>
            </a:r>
            <a:r>
              <a:rPr lang="it-IT"/>
              <a:t> for pilot projects, user </a:t>
            </a:r>
            <a:r>
              <a:rPr lang="it-IT" err="1"/>
              <a:t>validation</a:t>
            </a:r>
            <a:r>
              <a:rPr lang="it-IT"/>
              <a:t>, and </a:t>
            </a:r>
            <a:r>
              <a:rPr lang="it-IT" err="1"/>
              <a:t>institutional</a:t>
            </a:r>
            <a:r>
              <a:rPr lang="it-IT"/>
              <a:t> adoption. Technology and cloud providers support the AI </a:t>
            </a:r>
            <a:r>
              <a:rPr lang="it-IT" err="1"/>
              <a:t>infrastructure</a:t>
            </a:r>
            <a:r>
              <a:rPr lang="it-IT"/>
              <a:t>, </a:t>
            </a:r>
            <a:r>
              <a:rPr lang="it-IT" err="1"/>
              <a:t>while</a:t>
            </a:r>
            <a:r>
              <a:rPr lang="it-IT"/>
              <a:t> </a:t>
            </a:r>
            <a:r>
              <a:rPr lang="it-IT" err="1"/>
              <a:t>accessibility</a:t>
            </a:r>
            <a:r>
              <a:rPr lang="it-IT"/>
              <a:t> and </a:t>
            </a:r>
            <a:r>
              <a:rPr lang="it-IT" err="1"/>
              <a:t>legal</a:t>
            </a:r>
            <a:r>
              <a:rPr lang="it-IT"/>
              <a:t> </a:t>
            </a:r>
            <a:r>
              <a:rPr lang="it-IT" err="1"/>
              <a:t>experts</a:t>
            </a:r>
            <a:r>
              <a:rPr lang="it-IT"/>
              <a:t> help </a:t>
            </a:r>
            <a:r>
              <a:rPr lang="it-IT" err="1"/>
              <a:t>us</a:t>
            </a:r>
            <a:r>
              <a:rPr lang="it-IT"/>
              <a:t> </a:t>
            </a:r>
            <a:r>
              <a:rPr lang="it-IT" err="1"/>
              <a:t>ensure</a:t>
            </a:r>
            <a:r>
              <a:rPr lang="it-IT"/>
              <a:t> reliability and compliance.</a:t>
            </a:r>
          </a:p>
          <a:p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main</a:t>
            </a:r>
            <a:r>
              <a:rPr lang="it-IT"/>
              <a:t> activities include </a:t>
            </a:r>
            <a:r>
              <a:rPr lang="it-IT" err="1"/>
              <a:t>platform</a:t>
            </a:r>
            <a:r>
              <a:rPr lang="it-IT"/>
              <a:t> </a:t>
            </a:r>
            <a:r>
              <a:rPr lang="it-IT" err="1"/>
              <a:t>development</a:t>
            </a:r>
            <a:r>
              <a:rPr lang="it-IT"/>
              <a:t>, </a:t>
            </a:r>
            <a:r>
              <a:rPr lang="it-IT" err="1"/>
              <a:t>validation</a:t>
            </a:r>
            <a:r>
              <a:rPr lang="it-IT"/>
              <a:t> of AI-</a:t>
            </a:r>
            <a:r>
              <a:rPr lang="it-IT" err="1"/>
              <a:t>generated</a:t>
            </a:r>
            <a:r>
              <a:rPr lang="it-IT"/>
              <a:t> </a:t>
            </a:r>
            <a:r>
              <a:rPr lang="it-IT" err="1"/>
              <a:t>content</a:t>
            </a:r>
            <a:r>
              <a:rPr lang="it-IT"/>
              <a:t>, management of pilot projects, data governance, and the </a:t>
            </a:r>
            <a:r>
              <a:rPr lang="it-IT" err="1"/>
              <a:t>creation</a:t>
            </a:r>
            <a:r>
              <a:rPr lang="it-IT"/>
              <a:t> of </a:t>
            </a:r>
            <a:r>
              <a:rPr lang="it-IT" err="1"/>
              <a:t>institutional</a:t>
            </a:r>
            <a:r>
              <a:rPr lang="it-IT"/>
              <a:t> partnerships.</a:t>
            </a:r>
          </a:p>
          <a:p>
            <a:r>
              <a:rPr lang="it-IT"/>
              <a:t>The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resources</a:t>
            </a:r>
            <a:r>
              <a:rPr lang="it-IT"/>
              <a:t> are the technical team, educational and </a:t>
            </a:r>
            <a:r>
              <a:rPr lang="it-IT" err="1"/>
              <a:t>accessibility</a:t>
            </a:r>
            <a:r>
              <a:rPr lang="it-IT"/>
              <a:t> expertise, </a:t>
            </a:r>
            <a:r>
              <a:rPr lang="it-IT" err="1"/>
              <a:t>university</a:t>
            </a:r>
            <a:r>
              <a:rPr lang="it-IT"/>
              <a:t> </a:t>
            </a:r>
            <a:r>
              <a:rPr lang="it-IT" err="1"/>
              <a:t>relationships</a:t>
            </a:r>
            <a:r>
              <a:rPr lang="it-IT"/>
              <a:t>, and a secure and </a:t>
            </a:r>
            <a:r>
              <a:rPr lang="it-IT" err="1"/>
              <a:t>scalable</a:t>
            </a:r>
            <a:r>
              <a:rPr lang="it-IT"/>
              <a:t> cloud </a:t>
            </a:r>
            <a:r>
              <a:rPr lang="it-IT" err="1"/>
              <a:t>infrastructure</a:t>
            </a:r>
            <a:r>
              <a:rPr lang="it-IT"/>
              <a:t>.</a:t>
            </a:r>
          </a:p>
          <a:p>
            <a:r>
              <a:rPr lang="it-IT"/>
              <a:t>The cost </a:t>
            </a:r>
            <a:r>
              <a:rPr lang="it-IT" err="1"/>
              <a:t>structure</a:t>
            </a:r>
            <a:r>
              <a:rPr lang="it-IT"/>
              <a:t> </a:t>
            </a:r>
            <a:r>
              <a:rPr lang="it-IT" err="1"/>
              <a:t>includes</a:t>
            </a:r>
            <a:r>
              <a:rPr lang="it-IT"/>
              <a:t> software </a:t>
            </a:r>
            <a:r>
              <a:rPr lang="it-IT" err="1"/>
              <a:t>development</a:t>
            </a:r>
            <a:r>
              <a:rPr lang="it-IT"/>
              <a:t>, AI </a:t>
            </a:r>
            <a:r>
              <a:rPr lang="it-IT" err="1"/>
              <a:t>usage</a:t>
            </a:r>
            <a:r>
              <a:rPr lang="it-IT"/>
              <a:t>, cloud storage, educational </a:t>
            </a:r>
            <a:r>
              <a:rPr lang="it-IT" err="1"/>
              <a:t>validation</a:t>
            </a:r>
            <a:r>
              <a:rPr lang="it-IT"/>
              <a:t>, </a:t>
            </a:r>
            <a:r>
              <a:rPr lang="it-IT" err="1"/>
              <a:t>legal</a:t>
            </a:r>
            <a:r>
              <a:rPr lang="it-IT"/>
              <a:t> and privacy compliance, and marketing.</a:t>
            </a:r>
          </a:p>
          <a:p>
            <a:r>
              <a:rPr lang="it-IT"/>
              <a:t>A major </a:t>
            </a:r>
            <a:r>
              <a:rPr lang="it-IT" err="1"/>
              <a:t>managerial</a:t>
            </a:r>
            <a:r>
              <a:rPr lang="it-IT"/>
              <a:t> challenge </a:t>
            </a:r>
            <a:r>
              <a:rPr lang="it-IT" err="1"/>
              <a:t>will</a:t>
            </a:r>
            <a:r>
              <a:rPr lang="it-IT"/>
              <a:t> be </a:t>
            </a:r>
            <a:r>
              <a:rPr lang="it-IT" err="1"/>
              <a:t>controlling</a:t>
            </a:r>
            <a:r>
              <a:rPr lang="it-IT"/>
              <a:t> AI costs </a:t>
            </a:r>
            <a:r>
              <a:rPr lang="it-IT" err="1"/>
              <a:t>while</a:t>
            </a:r>
            <a:r>
              <a:rPr lang="it-IT"/>
              <a:t> </a:t>
            </a:r>
            <a:r>
              <a:rPr lang="it-IT" err="1"/>
              <a:t>maintaining</a:t>
            </a:r>
            <a:r>
              <a:rPr lang="it-IT"/>
              <a:t> high-</a:t>
            </a:r>
            <a:r>
              <a:rPr lang="it-IT" err="1"/>
              <a:t>quality</a:t>
            </a:r>
            <a:r>
              <a:rPr lang="it-IT"/>
              <a:t> and </a:t>
            </a:r>
            <a:r>
              <a:rPr lang="it-IT" err="1"/>
              <a:t>personalized</a:t>
            </a:r>
            <a:r>
              <a:rPr lang="it-IT"/>
              <a:t> outputs.”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presents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addressable</a:t>
            </a:r>
            <a:r>
              <a:rPr lang="it-IT"/>
              <a:t> market </a:t>
            </a:r>
            <a:r>
              <a:rPr lang="it-IT" err="1"/>
              <a:t>through</a:t>
            </a:r>
            <a:r>
              <a:rPr lang="it-IT"/>
              <a:t> a </a:t>
            </a:r>
            <a:r>
              <a:rPr lang="it-IT" err="1"/>
              <a:t>gradual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expansion</a:t>
            </a:r>
            <a:r>
              <a:rPr lang="it-IT"/>
              <a:t> strategy.</a:t>
            </a:r>
          </a:p>
          <a:p>
            <a:r>
              <a:rPr lang="it-IT"/>
              <a:t>The Total </a:t>
            </a:r>
            <a:r>
              <a:rPr lang="it-IT" err="1"/>
              <a:t>Addressable</a:t>
            </a:r>
            <a:r>
              <a:rPr lang="it-IT"/>
              <a:t> Market </a:t>
            </a:r>
            <a:r>
              <a:rPr lang="it-IT" err="1"/>
              <a:t>refers</a:t>
            </a:r>
            <a:r>
              <a:rPr lang="it-IT"/>
              <a:t> to the </a:t>
            </a:r>
            <a:r>
              <a:rPr lang="it-IT" err="1"/>
              <a:t>European</a:t>
            </a:r>
            <a:r>
              <a:rPr lang="it-IT"/>
              <a:t> </a:t>
            </a:r>
            <a:r>
              <a:rPr lang="it-IT" err="1"/>
              <a:t>higher-education</a:t>
            </a:r>
            <a:r>
              <a:rPr lang="it-IT"/>
              <a:t> market. Europe </a:t>
            </a:r>
            <a:r>
              <a:rPr lang="it-IT" err="1"/>
              <a:t>has</a:t>
            </a:r>
            <a:r>
              <a:rPr lang="it-IT"/>
              <a:t> </a:t>
            </a:r>
            <a:r>
              <a:rPr lang="it-IT" err="1"/>
              <a:t>approximately</a:t>
            </a:r>
            <a:r>
              <a:rPr lang="it-IT"/>
              <a:t> 5,000 </a:t>
            </a:r>
            <a:r>
              <a:rPr lang="it-IT" err="1"/>
              <a:t>higher-education</a:t>
            </a:r>
            <a:r>
              <a:rPr lang="it-IT"/>
              <a:t> institutions. </a:t>
            </a:r>
            <a:r>
              <a:rPr lang="it-IT" err="1"/>
              <a:t>Assuming</a:t>
            </a:r>
            <a:r>
              <a:rPr lang="it-IT"/>
              <a:t> an </a:t>
            </a:r>
            <a:r>
              <a:rPr lang="it-IT" err="1"/>
              <a:t>average</a:t>
            </a:r>
            <a:r>
              <a:rPr lang="it-IT"/>
              <a:t>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licence</a:t>
            </a:r>
            <a:r>
              <a:rPr lang="it-IT"/>
              <a:t> of €20,000, the </a:t>
            </a:r>
            <a:r>
              <a:rPr lang="it-IT" err="1"/>
              <a:t>institutional</a:t>
            </a:r>
            <a:r>
              <a:rPr lang="it-IT"/>
              <a:t> TAM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approximately</a:t>
            </a:r>
            <a:r>
              <a:rPr lang="it-IT"/>
              <a:t> €100 </a:t>
            </a:r>
            <a:r>
              <a:rPr lang="it-IT" err="1"/>
              <a:t>million</a:t>
            </a:r>
            <a:r>
              <a:rPr lang="it-IT"/>
              <a:t>.</a:t>
            </a:r>
          </a:p>
          <a:p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</a:t>
            </a:r>
            <a:r>
              <a:rPr lang="it-IT" err="1"/>
              <a:t>calculated</a:t>
            </a:r>
            <a:r>
              <a:rPr lang="it-IT"/>
              <a:t> an alternative </a:t>
            </a:r>
            <a:r>
              <a:rPr lang="it-IT" err="1"/>
              <a:t>student-based</a:t>
            </a:r>
            <a:r>
              <a:rPr lang="it-IT"/>
              <a:t> TAM. With </a:t>
            </a:r>
            <a:r>
              <a:rPr lang="it-IT" err="1"/>
              <a:t>approximately</a:t>
            </a:r>
            <a:r>
              <a:rPr lang="it-IT"/>
              <a:t> 18.8 </a:t>
            </a:r>
            <a:r>
              <a:rPr lang="it-IT" err="1"/>
              <a:t>million</a:t>
            </a:r>
            <a:r>
              <a:rPr lang="it-IT"/>
              <a:t> </a:t>
            </a:r>
            <a:r>
              <a:rPr lang="it-IT" err="1"/>
              <a:t>tertiary</a:t>
            </a:r>
            <a:r>
              <a:rPr lang="it-IT"/>
              <a:t> </a:t>
            </a:r>
            <a:r>
              <a:rPr lang="it-IT" err="1"/>
              <a:t>education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 in Europe and a </a:t>
            </a:r>
            <a:r>
              <a:rPr lang="it-IT" err="1"/>
              <a:t>potential</a:t>
            </a:r>
            <a:r>
              <a:rPr lang="it-IT"/>
              <a:t>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value</a:t>
            </a:r>
            <a:r>
              <a:rPr lang="it-IT"/>
              <a:t> of €10 per </a:t>
            </a:r>
            <a:r>
              <a:rPr lang="it-IT" err="1"/>
              <a:t>student</a:t>
            </a:r>
            <a:r>
              <a:rPr lang="it-IT"/>
              <a:t>, the </a:t>
            </a:r>
            <a:r>
              <a:rPr lang="it-IT" err="1"/>
              <a:t>theoretical</a:t>
            </a:r>
            <a:r>
              <a:rPr lang="it-IT"/>
              <a:t> market </a:t>
            </a:r>
            <a:r>
              <a:rPr lang="it-IT" err="1"/>
              <a:t>value</a:t>
            </a:r>
            <a:r>
              <a:rPr lang="it-IT"/>
              <a:t> </a:t>
            </a:r>
            <a:r>
              <a:rPr lang="it-IT" err="1"/>
              <a:t>would</a:t>
            </a:r>
            <a:r>
              <a:rPr lang="it-IT"/>
              <a:t> be </a:t>
            </a:r>
            <a:r>
              <a:rPr lang="it-IT" err="1"/>
              <a:t>approximately</a:t>
            </a:r>
            <a:r>
              <a:rPr lang="it-IT"/>
              <a:t> €188 </a:t>
            </a:r>
            <a:r>
              <a:rPr lang="it-IT" err="1"/>
              <a:t>million</a:t>
            </a:r>
            <a:r>
              <a:rPr lang="it-IT"/>
              <a:t>. </a:t>
            </a:r>
            <a:r>
              <a:rPr lang="it-IT" err="1"/>
              <a:t>However</a:t>
            </a:r>
            <a:r>
              <a:rPr lang="it-IT"/>
              <a:t>, </a:t>
            </a:r>
            <a:r>
              <a:rPr lang="it-IT" err="1"/>
              <a:t>since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main</a:t>
            </a:r>
            <a:r>
              <a:rPr lang="it-IT"/>
              <a:t> business model </a:t>
            </a:r>
            <a:r>
              <a:rPr lang="it-IT" err="1"/>
              <a:t>is</a:t>
            </a:r>
            <a:r>
              <a:rPr lang="it-IT"/>
              <a:t> B2B and B2B2C, the </a:t>
            </a:r>
            <a:r>
              <a:rPr lang="it-IT" err="1"/>
              <a:t>institutional</a:t>
            </a:r>
            <a:r>
              <a:rPr lang="it-IT"/>
              <a:t> estimate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relevant</a:t>
            </a:r>
            <a:r>
              <a:rPr lang="it-IT"/>
              <a:t> one.</a:t>
            </a:r>
          </a:p>
          <a:p>
            <a:r>
              <a:rPr lang="it-IT"/>
              <a:t>The </a:t>
            </a:r>
            <a:r>
              <a:rPr lang="it-IT" err="1"/>
              <a:t>Serviceable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Market </a:t>
            </a:r>
            <a:r>
              <a:rPr lang="it-IT" err="1"/>
              <a:t>focuses</a:t>
            </a:r>
            <a:r>
              <a:rPr lang="it-IT"/>
              <a:t> on Italy,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represents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initial</a:t>
            </a:r>
            <a:r>
              <a:rPr lang="it-IT"/>
              <a:t> </a:t>
            </a:r>
            <a:r>
              <a:rPr lang="it-IT" err="1"/>
              <a:t>geographic</a:t>
            </a:r>
            <a:r>
              <a:rPr lang="it-IT"/>
              <a:t> market. With </a:t>
            </a:r>
            <a:r>
              <a:rPr lang="it-IT" err="1"/>
              <a:t>approximately</a:t>
            </a:r>
            <a:r>
              <a:rPr lang="it-IT"/>
              <a:t> 100 </a:t>
            </a:r>
            <a:r>
              <a:rPr lang="it-IT" err="1"/>
              <a:t>universities</a:t>
            </a:r>
            <a:r>
              <a:rPr lang="it-IT"/>
              <a:t> and an </a:t>
            </a:r>
            <a:r>
              <a:rPr lang="it-IT" err="1"/>
              <a:t>estimated</a:t>
            </a:r>
            <a:r>
              <a:rPr lang="it-IT"/>
              <a:t>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licence</a:t>
            </a:r>
            <a:r>
              <a:rPr lang="it-IT"/>
              <a:t> </a:t>
            </a:r>
            <a:r>
              <a:rPr lang="it-IT" err="1"/>
              <a:t>value</a:t>
            </a:r>
            <a:r>
              <a:rPr lang="it-IT"/>
              <a:t> of €15,000 per institution, the </a:t>
            </a:r>
            <a:r>
              <a:rPr lang="it-IT" err="1"/>
              <a:t>Italian</a:t>
            </a:r>
            <a:r>
              <a:rPr lang="it-IT"/>
              <a:t> SAM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approximately</a:t>
            </a:r>
            <a:r>
              <a:rPr lang="it-IT"/>
              <a:t> €1.5 </a:t>
            </a:r>
            <a:r>
              <a:rPr lang="it-IT" err="1"/>
              <a:t>million</a:t>
            </a:r>
            <a:r>
              <a:rPr lang="it-IT"/>
              <a:t>.</a:t>
            </a:r>
          </a:p>
          <a:p>
            <a:r>
              <a:rPr lang="it-IT"/>
              <a:t>The €9,000 figure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not</a:t>
            </a:r>
            <a:r>
              <a:rPr lang="it-IT"/>
              <a:t> be </a:t>
            </a:r>
            <a:r>
              <a:rPr lang="it-IT" err="1"/>
              <a:t>interpreted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the maximum </a:t>
            </a:r>
            <a:r>
              <a:rPr lang="it-IT" err="1"/>
              <a:t>obtainable</a:t>
            </a:r>
            <a:r>
              <a:rPr lang="it-IT"/>
              <a:t> market.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represents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first-</a:t>
            </a:r>
            <a:r>
              <a:rPr lang="it-IT" err="1"/>
              <a:t>year</a:t>
            </a:r>
            <a:r>
              <a:rPr lang="it-IT"/>
              <a:t> pilot revenue target.</a:t>
            </a:r>
          </a:p>
          <a:p>
            <a:r>
              <a:rPr lang="it-IT"/>
              <a:t>At the </a:t>
            </a:r>
            <a:r>
              <a:rPr lang="it-IT" err="1"/>
              <a:t>beginning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aim</a:t>
            </a:r>
            <a:r>
              <a:rPr lang="it-IT"/>
              <a:t> to work with </a:t>
            </a:r>
            <a:r>
              <a:rPr lang="it-IT" err="1"/>
              <a:t>three</a:t>
            </a:r>
            <a:r>
              <a:rPr lang="it-IT"/>
              <a:t> institutions </a:t>
            </a:r>
            <a:r>
              <a:rPr lang="it-IT" err="1"/>
              <a:t>through</a:t>
            </a:r>
            <a:r>
              <a:rPr lang="it-IT"/>
              <a:t> limited pilot projects </a:t>
            </a:r>
            <a:r>
              <a:rPr lang="it-IT" err="1"/>
              <a:t>priced</a:t>
            </a:r>
            <a:r>
              <a:rPr lang="it-IT"/>
              <a:t> </a:t>
            </a:r>
            <a:r>
              <a:rPr lang="it-IT" err="1"/>
              <a:t>at</a:t>
            </a:r>
            <a:r>
              <a:rPr lang="it-IT"/>
              <a:t> </a:t>
            </a:r>
            <a:r>
              <a:rPr lang="it-IT" err="1"/>
              <a:t>approximately</a:t>
            </a:r>
            <a:r>
              <a:rPr lang="it-IT"/>
              <a:t> €3,000 </a:t>
            </a:r>
            <a:r>
              <a:rPr lang="it-IT" err="1"/>
              <a:t>each</a:t>
            </a:r>
            <a:r>
              <a:rPr lang="it-IT"/>
              <a:t>.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reduced</a:t>
            </a:r>
            <a:r>
              <a:rPr lang="it-IT"/>
              <a:t> price </a:t>
            </a:r>
            <a:r>
              <a:rPr lang="it-IT" err="1"/>
              <a:t>reflects</a:t>
            </a:r>
            <a:r>
              <a:rPr lang="it-IT"/>
              <a:t> the </a:t>
            </a:r>
            <a:r>
              <a:rPr lang="it-IT" err="1"/>
              <a:t>fact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the </a:t>
            </a:r>
            <a:r>
              <a:rPr lang="it-IT" err="1"/>
              <a:t>purpose</a:t>
            </a:r>
            <a:r>
              <a:rPr lang="it-IT"/>
              <a:t> of the pilot </a:t>
            </a:r>
            <a:r>
              <a:rPr lang="it-IT" err="1"/>
              <a:t>is</a:t>
            </a:r>
            <a:r>
              <a:rPr lang="it-IT"/>
              <a:t> to validate </a:t>
            </a:r>
            <a:r>
              <a:rPr lang="it-IT" err="1"/>
              <a:t>student</a:t>
            </a:r>
            <a:r>
              <a:rPr lang="it-IT"/>
              <a:t> engagement, technical reliability,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interest</a:t>
            </a:r>
            <a:r>
              <a:rPr lang="it-IT"/>
              <a:t>, and </a:t>
            </a:r>
            <a:r>
              <a:rPr lang="it-IT" err="1"/>
              <a:t>willingness</a:t>
            </a:r>
            <a:r>
              <a:rPr lang="it-IT"/>
              <a:t> to </a:t>
            </a:r>
            <a:r>
              <a:rPr lang="it-IT" err="1"/>
              <a:t>pay</a:t>
            </a:r>
            <a:r>
              <a:rPr lang="it-IT"/>
              <a:t>.</a:t>
            </a:r>
          </a:p>
          <a:p>
            <a:r>
              <a:rPr lang="it-IT" err="1"/>
              <a:t>If</a:t>
            </a:r>
            <a:r>
              <a:rPr lang="it-IT"/>
              <a:t> the </a:t>
            </a:r>
            <a:r>
              <a:rPr lang="it-IT" err="1"/>
              <a:t>pilots</a:t>
            </a:r>
            <a:r>
              <a:rPr lang="it-IT"/>
              <a:t> are </a:t>
            </a:r>
            <a:r>
              <a:rPr lang="it-IT" err="1"/>
              <a:t>successful</a:t>
            </a:r>
            <a:r>
              <a:rPr lang="it-IT"/>
              <a:t>, the </a:t>
            </a:r>
            <a:r>
              <a:rPr lang="it-IT" err="1"/>
              <a:t>objective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to </a:t>
            </a:r>
            <a:r>
              <a:rPr lang="it-IT" err="1"/>
              <a:t>convert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into</a:t>
            </a:r>
            <a:r>
              <a:rPr lang="it-IT"/>
              <a:t>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institutional</a:t>
            </a:r>
            <a:r>
              <a:rPr lang="it-IT"/>
              <a:t> </a:t>
            </a:r>
            <a:r>
              <a:rPr lang="it-IT" err="1"/>
              <a:t>licences</a:t>
            </a:r>
            <a:r>
              <a:rPr lang="it-IT"/>
              <a:t>. Based on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estimated</a:t>
            </a:r>
            <a:r>
              <a:rPr lang="it-IT"/>
              <a:t>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licence</a:t>
            </a:r>
            <a:r>
              <a:rPr lang="it-IT"/>
              <a:t> </a:t>
            </a:r>
            <a:r>
              <a:rPr lang="it-IT" err="1"/>
              <a:t>value</a:t>
            </a:r>
            <a:r>
              <a:rPr lang="it-IT"/>
              <a:t> of €15,000, the conversion of </a:t>
            </a:r>
            <a:r>
              <a:rPr lang="it-IT" err="1"/>
              <a:t>three</a:t>
            </a:r>
            <a:r>
              <a:rPr lang="it-IT"/>
              <a:t> pilot institutions </a:t>
            </a:r>
            <a:r>
              <a:rPr lang="it-IT" err="1"/>
              <a:t>would</a:t>
            </a:r>
            <a:r>
              <a:rPr lang="it-IT"/>
              <a:t> generate </a:t>
            </a:r>
            <a:r>
              <a:rPr lang="it-IT" err="1"/>
              <a:t>approximately</a:t>
            </a:r>
            <a:r>
              <a:rPr lang="it-IT"/>
              <a:t> €45,000 in </a:t>
            </a:r>
            <a:r>
              <a:rPr lang="it-IT" err="1"/>
              <a:t>annual</a:t>
            </a:r>
            <a:r>
              <a:rPr lang="it-IT"/>
              <a:t> </a:t>
            </a:r>
            <a:r>
              <a:rPr lang="it-IT" err="1"/>
              <a:t>recurring</a:t>
            </a:r>
            <a:r>
              <a:rPr lang="it-IT"/>
              <a:t> revenue.</a:t>
            </a:r>
          </a:p>
          <a:p>
            <a:r>
              <a:rPr lang="it-IT" err="1"/>
              <a:t>Therefore</a:t>
            </a:r>
            <a:r>
              <a:rPr lang="it-IT"/>
              <a:t>, the €9,000 figure </a:t>
            </a:r>
            <a:r>
              <a:rPr lang="it-IT" err="1"/>
              <a:t>represents</a:t>
            </a:r>
            <a:r>
              <a:rPr lang="it-IT"/>
              <a:t> the entry point of </a:t>
            </a:r>
            <a:r>
              <a:rPr lang="it-IT" err="1"/>
              <a:t>our</a:t>
            </a:r>
            <a:r>
              <a:rPr lang="it-IT"/>
              <a:t> go-to-market strategy, </a:t>
            </a:r>
            <a:r>
              <a:rPr lang="it-IT" err="1"/>
              <a:t>while</a:t>
            </a:r>
            <a:r>
              <a:rPr lang="it-IT"/>
              <a:t> the </a:t>
            </a:r>
            <a:r>
              <a:rPr lang="it-IT" err="1"/>
              <a:t>actual</a:t>
            </a:r>
            <a:r>
              <a:rPr lang="it-IT"/>
              <a:t> SOM </a:t>
            </a:r>
            <a:r>
              <a:rPr lang="it-IT" err="1"/>
              <a:t>should</a:t>
            </a:r>
            <a:r>
              <a:rPr lang="it-IT"/>
              <a:t> be </a:t>
            </a:r>
            <a:r>
              <a:rPr lang="it-IT" err="1"/>
              <a:t>evaluated</a:t>
            </a:r>
            <a:r>
              <a:rPr lang="it-IT"/>
              <a:t> over a </a:t>
            </a:r>
            <a:r>
              <a:rPr lang="it-IT" err="1"/>
              <a:t>longer</a:t>
            </a:r>
            <a:r>
              <a:rPr lang="it-IT"/>
              <a:t> time </a:t>
            </a:r>
            <a:r>
              <a:rPr lang="it-IT" err="1"/>
              <a:t>horizon</a:t>
            </a:r>
            <a:r>
              <a:rPr lang="it-IT"/>
              <a:t> and </a:t>
            </a:r>
            <a:r>
              <a:rPr lang="it-IT" err="1"/>
              <a:t>based</a:t>
            </a:r>
            <a:r>
              <a:rPr lang="it-IT"/>
              <a:t> on the </a:t>
            </a:r>
            <a:r>
              <a:rPr lang="it-IT" err="1"/>
              <a:t>number</a:t>
            </a:r>
            <a:r>
              <a:rPr lang="it-IT"/>
              <a:t> of institutions </a:t>
            </a:r>
            <a:r>
              <a:rPr lang="it-IT" err="1"/>
              <a:t>that</a:t>
            </a:r>
            <a:r>
              <a:rPr lang="it-IT"/>
              <a:t> can </a:t>
            </a:r>
            <a:r>
              <a:rPr lang="it-IT" err="1"/>
              <a:t>realistically</a:t>
            </a:r>
            <a:r>
              <a:rPr lang="it-IT"/>
              <a:t> be </a:t>
            </a:r>
            <a:r>
              <a:rPr lang="it-IT" err="1"/>
              <a:t>converted</a:t>
            </a:r>
            <a:r>
              <a:rPr lang="it-IT"/>
              <a:t> </a:t>
            </a:r>
            <a:r>
              <a:rPr lang="it-IT" err="1"/>
              <a:t>into</a:t>
            </a:r>
            <a:r>
              <a:rPr lang="it-IT"/>
              <a:t> </a:t>
            </a:r>
            <a:r>
              <a:rPr lang="it-IT" err="1"/>
              <a:t>recurring</a:t>
            </a:r>
            <a:r>
              <a:rPr lang="it-IT"/>
              <a:t> customers. SOM = </a:t>
            </a:r>
            <a:r>
              <a:rPr lang="it-IT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Serviceable</a:t>
            </a:r>
            <a:r>
              <a:rPr lang="it-IT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Obtainable</a:t>
            </a:r>
            <a:r>
              <a:rPr lang="it-IT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Market</a:t>
            </a:r>
            <a:endParaRPr lang="it-IT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identified</a:t>
            </a:r>
            <a:r>
              <a:rPr lang="it-IT"/>
              <a:t> </a:t>
            </a:r>
            <a:r>
              <a:rPr lang="it-IT" err="1"/>
              <a:t>three</a:t>
            </a:r>
            <a:r>
              <a:rPr lang="it-IT"/>
              <a:t> </a:t>
            </a:r>
            <a:r>
              <a:rPr lang="it-IT" err="1"/>
              <a:t>main</a:t>
            </a:r>
            <a:r>
              <a:rPr lang="it-IT"/>
              <a:t> user </a:t>
            </a:r>
            <a:r>
              <a:rPr lang="it-IT" err="1"/>
              <a:t>personas</a:t>
            </a:r>
            <a:r>
              <a:rPr lang="it-IT"/>
              <a:t>.</a:t>
            </a:r>
          </a:p>
          <a:p>
            <a:r>
              <a:rPr lang="it-IT"/>
              <a:t>The first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Problem</a:t>
            </a:r>
            <a:r>
              <a:rPr lang="it-IT"/>
              <a:t>-Solver, </a:t>
            </a:r>
            <a:r>
              <a:rPr lang="it-IT" err="1"/>
              <a:t>typically</a:t>
            </a:r>
            <a:r>
              <a:rPr lang="it-IT"/>
              <a:t> a STEM </a:t>
            </a:r>
            <a:r>
              <a:rPr lang="it-IT" err="1"/>
              <a:t>student</a:t>
            </a:r>
            <a:r>
              <a:rPr lang="it-IT"/>
              <a:t>.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student</a:t>
            </a:r>
            <a:r>
              <a:rPr lang="it-IT"/>
              <a:t> </a:t>
            </a:r>
            <a:r>
              <a:rPr lang="it-IT" err="1"/>
              <a:t>needs</a:t>
            </a:r>
            <a:r>
              <a:rPr lang="it-IT"/>
              <a:t> clear, </a:t>
            </a:r>
            <a:r>
              <a:rPr lang="it-IT" err="1"/>
              <a:t>step-by-step</a:t>
            </a:r>
            <a:r>
              <a:rPr lang="it-IT"/>
              <a:t> </a:t>
            </a:r>
            <a:r>
              <a:rPr lang="it-IT" err="1"/>
              <a:t>explanations</a:t>
            </a:r>
            <a:r>
              <a:rPr lang="it-IT"/>
              <a:t> for </a:t>
            </a:r>
            <a:r>
              <a:rPr lang="it-IT" err="1"/>
              <a:t>exercises</a:t>
            </a:r>
            <a:r>
              <a:rPr lang="it-IT"/>
              <a:t> and </a:t>
            </a:r>
            <a:r>
              <a:rPr lang="it-IT" err="1"/>
              <a:t>formulas</a:t>
            </a:r>
            <a:r>
              <a:rPr lang="it-IT"/>
              <a:t> and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frustrated</a:t>
            </a:r>
            <a:r>
              <a:rPr lang="it-IT"/>
              <a:t> by </a:t>
            </a:r>
            <a:r>
              <a:rPr lang="it-IT" err="1"/>
              <a:t>generic</a:t>
            </a:r>
            <a:r>
              <a:rPr lang="it-IT"/>
              <a:t> or inaccurate AI </a:t>
            </a:r>
            <a:r>
              <a:rPr lang="it-IT" err="1"/>
              <a:t>answers</a:t>
            </a:r>
            <a:r>
              <a:rPr lang="it-IT"/>
              <a:t>. For </a:t>
            </a:r>
            <a:r>
              <a:rPr lang="it-IT" err="1"/>
              <a:t>this</a:t>
            </a:r>
            <a:r>
              <a:rPr lang="it-IT"/>
              <a:t> persona, the Course-</a:t>
            </a:r>
            <a:r>
              <a:rPr lang="it-IT" err="1"/>
              <a:t>Grounded</a:t>
            </a:r>
            <a:r>
              <a:rPr lang="it-IT"/>
              <a:t> Tutor and </a:t>
            </a:r>
            <a:r>
              <a:rPr lang="it-IT" err="1"/>
              <a:t>exercise</a:t>
            </a:r>
            <a:r>
              <a:rPr lang="it-IT"/>
              <a:t> breakdown are </a:t>
            </a:r>
            <a:r>
              <a:rPr lang="it-IT" err="1"/>
              <a:t>particularly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.</a:t>
            </a:r>
          </a:p>
          <a:p>
            <a:r>
              <a:rPr lang="it-IT"/>
              <a:t>The second persona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Exam</a:t>
            </a:r>
            <a:r>
              <a:rPr lang="it-IT"/>
              <a:t>-Ready Student. </a:t>
            </a:r>
            <a:r>
              <a:rPr lang="it-IT" err="1"/>
              <a:t>This</a:t>
            </a:r>
            <a:r>
              <a:rPr lang="it-IT"/>
              <a:t> user </a:t>
            </a:r>
            <a:r>
              <a:rPr lang="it-IT" err="1"/>
              <a:t>may</a:t>
            </a:r>
            <a:r>
              <a:rPr lang="it-IT"/>
              <a:t> study </a:t>
            </a:r>
            <a:r>
              <a:rPr lang="it-IT" err="1"/>
              <a:t>consistently</a:t>
            </a:r>
            <a:r>
              <a:rPr lang="it-IT"/>
              <a:t> </a:t>
            </a:r>
            <a:r>
              <a:rPr lang="it-IT" err="1"/>
              <a:t>but</a:t>
            </a:r>
            <a:r>
              <a:rPr lang="it-IT"/>
              <a:t> </a:t>
            </a:r>
            <a:r>
              <a:rPr lang="it-IT" err="1"/>
              <a:t>remains</a:t>
            </a:r>
            <a:r>
              <a:rPr lang="it-IT"/>
              <a:t> </a:t>
            </a:r>
            <a:r>
              <a:rPr lang="it-IT" err="1"/>
              <a:t>uncertain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whether</a:t>
            </a:r>
            <a:r>
              <a:rPr lang="it-IT"/>
              <a:t> </a:t>
            </a:r>
            <a:r>
              <a:rPr lang="it-IT" err="1"/>
              <a:t>they</a:t>
            </a:r>
            <a:r>
              <a:rPr lang="it-IT"/>
              <a:t> are </a:t>
            </a:r>
            <a:r>
              <a:rPr lang="it-IT" err="1"/>
              <a:t>truly</a:t>
            </a:r>
            <a:r>
              <a:rPr lang="it-IT"/>
              <a:t> </a:t>
            </a:r>
            <a:r>
              <a:rPr lang="it-IT" err="1"/>
              <a:t>prepared</a:t>
            </a:r>
            <a:r>
              <a:rPr lang="it-IT"/>
              <a:t>. </a:t>
            </a:r>
            <a:r>
              <a:rPr lang="it-IT" err="1"/>
              <a:t>EducationSphere</a:t>
            </a:r>
            <a:r>
              <a:rPr lang="it-IT"/>
              <a:t> supports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student</a:t>
            </a:r>
            <a:r>
              <a:rPr lang="it-IT"/>
              <a:t> </a:t>
            </a:r>
            <a:r>
              <a:rPr lang="it-IT" err="1"/>
              <a:t>through</a:t>
            </a:r>
            <a:r>
              <a:rPr lang="it-IT"/>
              <a:t> </a:t>
            </a:r>
            <a:r>
              <a:rPr lang="it-IT" err="1"/>
              <a:t>realistic</a:t>
            </a:r>
            <a:r>
              <a:rPr lang="it-IT"/>
              <a:t> </a:t>
            </a:r>
            <a:r>
              <a:rPr lang="it-IT" err="1"/>
              <a:t>simulations</a:t>
            </a:r>
            <a:r>
              <a:rPr lang="it-IT"/>
              <a:t> and the Knowledge Gap </a:t>
            </a:r>
            <a:r>
              <a:rPr lang="it-IT" err="1"/>
              <a:t>Map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third</a:t>
            </a:r>
            <a:r>
              <a:rPr lang="it-IT"/>
              <a:t> persona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Accessible</a:t>
            </a:r>
            <a:r>
              <a:rPr lang="it-IT"/>
              <a:t> Learner.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student</a:t>
            </a:r>
            <a:r>
              <a:rPr lang="it-IT"/>
              <a:t> </a:t>
            </a:r>
            <a:r>
              <a:rPr lang="it-IT" err="1"/>
              <a:t>may</a:t>
            </a:r>
            <a:r>
              <a:rPr lang="it-IT"/>
              <a:t> face </a:t>
            </a:r>
            <a:r>
              <a:rPr lang="it-IT" err="1"/>
              <a:t>difficulties</a:t>
            </a:r>
            <a:r>
              <a:rPr lang="it-IT"/>
              <a:t> </a:t>
            </a:r>
            <a:r>
              <a:rPr lang="it-IT" err="1"/>
              <a:t>caused</a:t>
            </a:r>
            <a:r>
              <a:rPr lang="it-IT"/>
              <a:t> by dense texts, </a:t>
            </a:r>
            <a:r>
              <a:rPr lang="it-IT" err="1"/>
              <a:t>inaccessible</a:t>
            </a:r>
            <a:r>
              <a:rPr lang="it-IT"/>
              <a:t> </a:t>
            </a:r>
            <a:r>
              <a:rPr lang="it-IT" err="1"/>
              <a:t>documents</a:t>
            </a:r>
            <a:r>
              <a:rPr lang="it-IT"/>
              <a:t>, </a:t>
            </a:r>
            <a:r>
              <a:rPr lang="it-IT" err="1"/>
              <a:t>formulas</a:t>
            </a:r>
            <a:r>
              <a:rPr lang="it-IT"/>
              <a:t>, </a:t>
            </a:r>
            <a:r>
              <a:rPr lang="it-IT" err="1"/>
              <a:t>graphs</a:t>
            </a:r>
            <a:r>
              <a:rPr lang="it-IT"/>
              <a:t>, or </a:t>
            </a:r>
            <a:r>
              <a:rPr lang="it-IT" err="1"/>
              <a:t>interfaces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are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compatible</a:t>
            </a:r>
            <a:r>
              <a:rPr lang="it-IT"/>
              <a:t> with assistive </a:t>
            </a:r>
            <a:r>
              <a:rPr lang="it-IT" err="1"/>
              <a:t>technologies</a:t>
            </a:r>
            <a:r>
              <a:rPr lang="it-IT"/>
              <a:t>.</a:t>
            </a:r>
          </a:p>
          <a:p>
            <a:r>
              <a:rPr lang="it-IT"/>
              <a:t>For </a:t>
            </a:r>
            <a:r>
              <a:rPr lang="it-IT" err="1"/>
              <a:t>this</a:t>
            </a:r>
            <a:r>
              <a:rPr lang="it-IT"/>
              <a:t> user, the </a:t>
            </a:r>
            <a:r>
              <a:rPr lang="it-IT" err="1"/>
              <a:t>solution</a:t>
            </a:r>
            <a:r>
              <a:rPr lang="it-IT"/>
              <a:t> </a:t>
            </a:r>
            <a:r>
              <a:rPr lang="it-IT" err="1"/>
              <a:t>includes</a:t>
            </a:r>
            <a:r>
              <a:rPr lang="it-IT"/>
              <a:t> </a:t>
            </a:r>
            <a:r>
              <a:rPr lang="it-IT" err="1"/>
              <a:t>accessible</a:t>
            </a:r>
            <a:r>
              <a:rPr lang="it-IT"/>
              <a:t> </a:t>
            </a:r>
            <a:r>
              <a:rPr lang="it-IT" err="1"/>
              <a:t>summaries</a:t>
            </a:r>
            <a:r>
              <a:rPr lang="it-IT"/>
              <a:t>, micro-goals, visual or </a:t>
            </a:r>
            <a:r>
              <a:rPr lang="it-IT" err="1"/>
              <a:t>textual</a:t>
            </a:r>
            <a:r>
              <a:rPr lang="it-IT"/>
              <a:t> </a:t>
            </a:r>
            <a:r>
              <a:rPr lang="it-IT" err="1"/>
              <a:t>adaptations</a:t>
            </a:r>
            <a:r>
              <a:rPr lang="it-IT"/>
              <a:t>, text-to-speech </a:t>
            </a:r>
            <a:r>
              <a:rPr lang="it-IT" err="1"/>
              <a:t>compatibility</a:t>
            </a:r>
            <a:r>
              <a:rPr lang="it-IT"/>
              <a:t>, screen-reader support, and </a:t>
            </a:r>
            <a:r>
              <a:rPr lang="it-IT" err="1"/>
              <a:t>keyboard</a:t>
            </a:r>
            <a:r>
              <a:rPr lang="it-IT"/>
              <a:t> </a:t>
            </a:r>
            <a:r>
              <a:rPr lang="it-IT" err="1"/>
              <a:t>navigation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“To validate the first </a:t>
            </a:r>
            <a:r>
              <a:rPr lang="it-IT" err="1"/>
              <a:t>two</a:t>
            </a:r>
            <a:r>
              <a:rPr lang="it-IT"/>
              <a:t> </a:t>
            </a:r>
            <a:r>
              <a:rPr lang="it-IT" err="1"/>
              <a:t>personas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conducted</a:t>
            </a:r>
            <a:r>
              <a:rPr lang="it-IT"/>
              <a:t> a survey </a:t>
            </a:r>
            <a:r>
              <a:rPr lang="it-IT" err="1"/>
              <a:t>involving</a:t>
            </a:r>
            <a:r>
              <a:rPr lang="it-IT"/>
              <a:t> one </a:t>
            </a:r>
            <a:r>
              <a:rPr lang="it-IT" err="1"/>
              <a:t>hundred</a:t>
            </a:r>
            <a:r>
              <a:rPr lang="it-IT"/>
              <a:t> </a:t>
            </a:r>
            <a:r>
              <a:rPr lang="it-IT" err="1"/>
              <a:t>university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.</a:t>
            </a:r>
          </a:p>
          <a:p>
            <a:r>
              <a:rPr lang="it-IT" err="1"/>
              <a:t>Seventy-nine</a:t>
            </a:r>
            <a:r>
              <a:rPr lang="it-IT"/>
              <a:t> </a:t>
            </a:r>
            <a:r>
              <a:rPr lang="it-IT" err="1"/>
              <a:t>percent</a:t>
            </a:r>
            <a:r>
              <a:rPr lang="it-IT"/>
              <a:t> of </a:t>
            </a:r>
            <a:r>
              <a:rPr lang="it-IT" err="1"/>
              <a:t>respondents</a:t>
            </a:r>
            <a:r>
              <a:rPr lang="it-IT"/>
              <a:t> </a:t>
            </a:r>
            <a:r>
              <a:rPr lang="it-IT" err="1"/>
              <a:t>reported</a:t>
            </a:r>
            <a:r>
              <a:rPr lang="it-IT"/>
              <a:t> </a:t>
            </a:r>
            <a:r>
              <a:rPr lang="it-IT" err="1"/>
              <a:t>using</a:t>
            </a:r>
            <a:r>
              <a:rPr lang="it-IT"/>
              <a:t> AI tools </a:t>
            </a:r>
            <a:r>
              <a:rPr lang="it-IT" err="1"/>
              <a:t>frequently</a:t>
            </a:r>
            <a:r>
              <a:rPr lang="it-IT"/>
              <a:t> for </a:t>
            </a:r>
            <a:r>
              <a:rPr lang="it-IT" err="1"/>
              <a:t>studying</a:t>
            </a:r>
            <a:r>
              <a:rPr lang="it-IT"/>
              <a:t>. </a:t>
            </a:r>
            <a:r>
              <a:rPr lang="it-IT" err="1"/>
              <a:t>However</a:t>
            </a:r>
            <a:r>
              <a:rPr lang="it-IT"/>
              <a:t>, </a:t>
            </a:r>
            <a:r>
              <a:rPr lang="it-IT" err="1"/>
              <a:t>many</a:t>
            </a:r>
            <a:r>
              <a:rPr lang="it-IT"/>
              <a:t> </a:t>
            </a:r>
            <a:r>
              <a:rPr lang="it-IT" err="1"/>
              <a:t>students</a:t>
            </a:r>
            <a:r>
              <a:rPr lang="it-IT"/>
              <a:t> </a:t>
            </a:r>
            <a:r>
              <a:rPr lang="it-IT" err="1"/>
              <a:t>described</a:t>
            </a:r>
            <a:r>
              <a:rPr lang="it-IT"/>
              <a:t> </a:t>
            </a:r>
            <a:r>
              <a:rPr lang="it-IT" err="1"/>
              <a:t>generic</a:t>
            </a:r>
            <a:r>
              <a:rPr lang="it-IT"/>
              <a:t> chatbots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useful</a:t>
            </a:r>
            <a:r>
              <a:rPr lang="it-IT"/>
              <a:t> </a:t>
            </a:r>
            <a:r>
              <a:rPr lang="it-IT" err="1"/>
              <a:t>but</a:t>
            </a:r>
            <a:r>
              <a:rPr lang="it-IT"/>
              <a:t> incomplete and </a:t>
            </a:r>
            <a:r>
              <a:rPr lang="it-IT" err="1"/>
              <a:t>unreliable</a:t>
            </a:r>
            <a:r>
              <a:rPr lang="it-IT"/>
              <a:t> for full </a:t>
            </a:r>
            <a:r>
              <a:rPr lang="it-IT" err="1"/>
              <a:t>exam</a:t>
            </a:r>
            <a:r>
              <a:rPr lang="it-IT"/>
              <a:t> </a:t>
            </a:r>
            <a:r>
              <a:rPr lang="it-IT" err="1"/>
              <a:t>preparation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most</a:t>
            </a:r>
            <a:r>
              <a:rPr lang="it-IT"/>
              <a:t> </a:t>
            </a:r>
            <a:r>
              <a:rPr lang="it-IT" err="1"/>
              <a:t>appreciated</a:t>
            </a:r>
            <a:r>
              <a:rPr lang="it-IT"/>
              <a:t> feature </a:t>
            </a:r>
            <a:r>
              <a:rPr lang="it-IT" err="1"/>
              <a:t>was</a:t>
            </a:r>
            <a:r>
              <a:rPr lang="it-IT"/>
              <a:t> the </a:t>
            </a:r>
            <a:r>
              <a:rPr lang="it-IT" err="1"/>
              <a:t>step-by-step</a:t>
            </a:r>
            <a:r>
              <a:rPr lang="it-IT"/>
              <a:t> </a:t>
            </a:r>
            <a:r>
              <a:rPr lang="it-IT" err="1"/>
              <a:t>explanation</a:t>
            </a:r>
            <a:r>
              <a:rPr lang="it-IT"/>
              <a:t> of </a:t>
            </a:r>
            <a:r>
              <a:rPr lang="it-IT" err="1"/>
              <a:t>exercises</a:t>
            </a:r>
            <a:r>
              <a:rPr lang="it-IT"/>
              <a:t>. </a:t>
            </a:r>
            <a:r>
              <a:rPr lang="it-IT" err="1"/>
              <a:t>Realistic</a:t>
            </a:r>
            <a:r>
              <a:rPr lang="it-IT"/>
              <a:t> </a:t>
            </a:r>
            <a:r>
              <a:rPr lang="it-IT" err="1"/>
              <a:t>mock</a:t>
            </a:r>
            <a:r>
              <a:rPr lang="it-IT"/>
              <a:t> </a:t>
            </a:r>
            <a:r>
              <a:rPr lang="it-IT" err="1"/>
              <a:t>exams</a:t>
            </a:r>
            <a:r>
              <a:rPr lang="it-IT"/>
              <a:t> and </a:t>
            </a:r>
            <a:r>
              <a:rPr lang="it-IT" err="1"/>
              <a:t>quizzes</a:t>
            </a:r>
            <a:r>
              <a:rPr lang="it-IT"/>
              <a:t> </a:t>
            </a:r>
            <a:r>
              <a:rPr lang="it-IT" err="1"/>
              <a:t>generated</a:t>
            </a:r>
            <a:r>
              <a:rPr lang="it-IT"/>
              <a:t> from </a:t>
            </a:r>
            <a:r>
              <a:rPr lang="it-IT" err="1"/>
              <a:t>course</a:t>
            </a:r>
            <a:r>
              <a:rPr lang="it-IT"/>
              <a:t> </a:t>
            </a:r>
            <a:r>
              <a:rPr lang="it-IT" err="1"/>
              <a:t>materials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</a:t>
            </a:r>
            <a:r>
              <a:rPr lang="it-IT" err="1"/>
              <a:t>received</a:t>
            </a:r>
            <a:r>
              <a:rPr lang="it-IT"/>
              <a:t> strong </a:t>
            </a:r>
            <a:r>
              <a:rPr lang="it-IT" err="1"/>
              <a:t>evaluations</a:t>
            </a:r>
            <a:r>
              <a:rPr lang="it-IT"/>
              <a:t>. </a:t>
            </a:r>
            <a:r>
              <a:rPr lang="it-IT" err="1"/>
              <a:t>These</a:t>
            </a:r>
            <a:r>
              <a:rPr lang="it-IT"/>
              <a:t> </a:t>
            </a:r>
            <a:r>
              <a:rPr lang="it-IT" err="1"/>
              <a:t>results</a:t>
            </a:r>
            <a:r>
              <a:rPr lang="it-IT"/>
              <a:t> </a:t>
            </a:r>
            <a:r>
              <a:rPr lang="it-IT" err="1"/>
              <a:t>suggest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the first MVP </a:t>
            </a:r>
            <a:r>
              <a:rPr lang="it-IT" err="1"/>
              <a:t>should</a:t>
            </a:r>
            <a:r>
              <a:rPr lang="it-IT"/>
              <a:t> focus on </a:t>
            </a:r>
            <a:r>
              <a:rPr lang="it-IT" err="1"/>
              <a:t>practical</a:t>
            </a:r>
            <a:r>
              <a:rPr lang="it-IT"/>
              <a:t> learning and </a:t>
            </a:r>
            <a:r>
              <a:rPr lang="it-IT" err="1"/>
              <a:t>exam-preparation</a:t>
            </a:r>
            <a:r>
              <a:rPr lang="it-IT"/>
              <a:t> features </a:t>
            </a:r>
            <a:r>
              <a:rPr lang="it-IT" err="1"/>
              <a:t>rather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trying</a:t>
            </a:r>
            <a:r>
              <a:rPr lang="it-IT"/>
              <a:t> to </a:t>
            </a:r>
            <a:r>
              <a:rPr lang="it-IT" err="1"/>
              <a:t>develop</a:t>
            </a:r>
            <a:r>
              <a:rPr lang="it-IT"/>
              <a:t> </a:t>
            </a:r>
            <a:r>
              <a:rPr lang="it-IT" err="1"/>
              <a:t>every</a:t>
            </a:r>
            <a:r>
              <a:rPr lang="it-IT"/>
              <a:t> </a:t>
            </a:r>
            <a:r>
              <a:rPr lang="it-IT" err="1"/>
              <a:t>possible</a:t>
            </a:r>
            <a:r>
              <a:rPr lang="it-IT"/>
              <a:t> function </a:t>
            </a:r>
            <a:r>
              <a:rPr lang="it-IT" err="1"/>
              <a:t>immediately</a:t>
            </a:r>
            <a:r>
              <a:rPr lang="it-IT"/>
              <a:t>.</a:t>
            </a:r>
          </a:p>
          <a:p>
            <a:r>
              <a:rPr lang="it-IT"/>
              <a:t>To validate the </a:t>
            </a:r>
            <a:r>
              <a:rPr lang="it-IT" err="1"/>
              <a:t>third</a:t>
            </a:r>
            <a:r>
              <a:rPr lang="it-IT"/>
              <a:t> persona,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conducted</a:t>
            </a:r>
            <a:r>
              <a:rPr lang="it-IT"/>
              <a:t> a </a:t>
            </a:r>
            <a:r>
              <a:rPr lang="it-IT" err="1"/>
              <a:t>direct</a:t>
            </a:r>
            <a:r>
              <a:rPr lang="it-IT"/>
              <a:t> interview with a blind Computer Engineering </a:t>
            </a:r>
            <a:r>
              <a:rPr lang="it-IT" err="1"/>
              <a:t>student</a:t>
            </a:r>
            <a:r>
              <a:rPr lang="it-IT"/>
              <a:t>.</a:t>
            </a:r>
          </a:p>
          <a:p>
            <a:r>
              <a:rPr lang="it-IT"/>
              <a:t>The interview </a:t>
            </a:r>
            <a:r>
              <a:rPr lang="it-IT" err="1"/>
              <a:t>showed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the </a:t>
            </a:r>
            <a:r>
              <a:rPr lang="it-IT" err="1"/>
              <a:t>main</a:t>
            </a:r>
            <a:r>
              <a:rPr lang="it-IT"/>
              <a:t> </a:t>
            </a:r>
            <a:r>
              <a:rPr lang="it-IT" err="1"/>
              <a:t>accessibility</a:t>
            </a:r>
            <a:r>
              <a:rPr lang="it-IT"/>
              <a:t> </a:t>
            </a:r>
            <a:r>
              <a:rPr lang="it-IT" err="1"/>
              <a:t>barrier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not</a:t>
            </a:r>
            <a:r>
              <a:rPr lang="it-IT"/>
              <a:t> a </a:t>
            </a:r>
            <a:r>
              <a:rPr lang="it-IT" err="1"/>
              <a:t>lack</a:t>
            </a:r>
            <a:r>
              <a:rPr lang="it-IT"/>
              <a:t> of </a:t>
            </a:r>
            <a:r>
              <a:rPr lang="it-IT" err="1"/>
              <a:t>academic</a:t>
            </a:r>
            <a:r>
              <a:rPr lang="it-IT"/>
              <a:t> </a:t>
            </a:r>
            <a:r>
              <a:rPr lang="it-IT" err="1"/>
              <a:t>ability</a:t>
            </a:r>
            <a:r>
              <a:rPr lang="it-IT"/>
              <a:t>, </a:t>
            </a:r>
            <a:r>
              <a:rPr lang="it-IT" err="1"/>
              <a:t>but</a:t>
            </a:r>
            <a:r>
              <a:rPr lang="it-IT"/>
              <a:t> the technical </a:t>
            </a:r>
            <a:r>
              <a:rPr lang="it-IT" err="1"/>
              <a:t>inaccessibility</a:t>
            </a:r>
            <a:r>
              <a:rPr lang="it-IT"/>
              <a:t> of </a:t>
            </a:r>
            <a:r>
              <a:rPr lang="it-IT" err="1"/>
              <a:t>materials</a:t>
            </a:r>
            <a:r>
              <a:rPr lang="it-IT"/>
              <a:t> </a:t>
            </a:r>
            <a:r>
              <a:rPr lang="it-IT" err="1"/>
              <a:t>such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PDFs</a:t>
            </a:r>
            <a:r>
              <a:rPr lang="it-IT"/>
              <a:t>, images, </a:t>
            </a:r>
            <a:r>
              <a:rPr lang="it-IT" err="1"/>
              <a:t>graphs</a:t>
            </a:r>
            <a:r>
              <a:rPr lang="it-IT"/>
              <a:t>, and </a:t>
            </a:r>
            <a:r>
              <a:rPr lang="it-IT" err="1"/>
              <a:t>mathematical</a:t>
            </a:r>
            <a:r>
              <a:rPr lang="it-IT"/>
              <a:t> </a:t>
            </a:r>
            <a:r>
              <a:rPr lang="it-IT" err="1"/>
              <a:t>formulas</a:t>
            </a:r>
            <a:r>
              <a:rPr lang="it-IT"/>
              <a:t>.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highlighted</a:t>
            </a:r>
            <a:r>
              <a:rPr lang="it-IT"/>
              <a:t> the </a:t>
            </a:r>
            <a:r>
              <a:rPr lang="it-IT" err="1"/>
              <a:t>importance</a:t>
            </a:r>
            <a:r>
              <a:rPr lang="it-IT"/>
              <a:t> of accurate </a:t>
            </a:r>
            <a:r>
              <a:rPr lang="it-IT" err="1"/>
              <a:t>content</a:t>
            </a:r>
            <a:r>
              <a:rPr lang="it-IT"/>
              <a:t> </a:t>
            </a:r>
            <a:r>
              <a:rPr lang="it-IT" err="1"/>
              <a:t>transformation</a:t>
            </a:r>
            <a:r>
              <a:rPr lang="it-IT"/>
              <a:t>, screen-reader </a:t>
            </a:r>
            <a:r>
              <a:rPr lang="it-IT" err="1"/>
              <a:t>compatibility</a:t>
            </a:r>
            <a:r>
              <a:rPr lang="it-IT"/>
              <a:t>, </a:t>
            </a:r>
            <a:r>
              <a:rPr lang="it-IT" err="1"/>
              <a:t>keyboard</a:t>
            </a:r>
            <a:r>
              <a:rPr lang="it-IT"/>
              <a:t> </a:t>
            </a:r>
            <a:r>
              <a:rPr lang="it-IT" err="1"/>
              <a:t>navigation</a:t>
            </a:r>
            <a:r>
              <a:rPr lang="it-IT"/>
              <a:t>, and </a:t>
            </a:r>
            <a:r>
              <a:rPr lang="it-IT" err="1"/>
              <a:t>validation</a:t>
            </a:r>
            <a:r>
              <a:rPr lang="it-IT"/>
              <a:t> by </a:t>
            </a:r>
            <a:r>
              <a:rPr lang="it-IT" err="1"/>
              <a:t>accessibility</a:t>
            </a:r>
            <a:r>
              <a:rPr lang="it-IT"/>
              <a:t> </a:t>
            </a:r>
            <a:r>
              <a:rPr lang="it-IT" err="1"/>
              <a:t>experts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“To conclude,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identified</a:t>
            </a:r>
            <a:r>
              <a:rPr lang="it-IT"/>
              <a:t> </a:t>
            </a:r>
            <a:r>
              <a:rPr lang="it-IT" err="1"/>
              <a:t>five</a:t>
            </a:r>
            <a:r>
              <a:rPr lang="it-IT"/>
              <a:t> </a:t>
            </a:r>
            <a:r>
              <a:rPr lang="it-IT" err="1"/>
              <a:t>main</a:t>
            </a:r>
            <a:r>
              <a:rPr lang="it-IT"/>
              <a:t> </a:t>
            </a:r>
            <a:r>
              <a:rPr lang="it-IT" err="1"/>
              <a:t>categories</a:t>
            </a:r>
            <a:r>
              <a:rPr lang="it-IT"/>
              <a:t> of risk.</a:t>
            </a:r>
          </a:p>
          <a:p>
            <a:r>
              <a:rPr lang="it-IT"/>
              <a:t>The first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strategic</a:t>
            </a:r>
            <a:r>
              <a:rPr lang="it-IT"/>
              <a:t> </a:t>
            </a:r>
            <a:r>
              <a:rPr lang="it-IT" err="1"/>
              <a:t>alignment</a:t>
            </a:r>
            <a:r>
              <a:rPr lang="it-IT"/>
              <a:t>. </a:t>
            </a:r>
            <a:r>
              <a:rPr lang="it-IT" err="1"/>
              <a:t>Developing</a:t>
            </a:r>
            <a:r>
              <a:rPr lang="it-IT"/>
              <a:t> </a:t>
            </a:r>
            <a:r>
              <a:rPr lang="it-IT" err="1"/>
              <a:t>too</a:t>
            </a:r>
            <a:r>
              <a:rPr lang="it-IT"/>
              <a:t> </a:t>
            </a:r>
            <a:r>
              <a:rPr lang="it-IT" err="1"/>
              <a:t>many</a:t>
            </a:r>
            <a:r>
              <a:rPr lang="it-IT"/>
              <a:t> features </a:t>
            </a:r>
            <a:r>
              <a:rPr lang="it-IT" err="1"/>
              <a:t>at</a:t>
            </a:r>
            <a:r>
              <a:rPr lang="it-IT"/>
              <a:t> the </a:t>
            </a:r>
            <a:r>
              <a:rPr lang="it-IT" err="1"/>
              <a:t>same</a:t>
            </a:r>
            <a:r>
              <a:rPr lang="it-IT"/>
              <a:t> time </a:t>
            </a:r>
            <a:r>
              <a:rPr lang="it-IT" err="1"/>
              <a:t>could</a:t>
            </a:r>
            <a:r>
              <a:rPr lang="it-IT"/>
              <a:t> reduce focus and make the product </a:t>
            </a:r>
            <a:r>
              <a:rPr lang="it-IT" err="1"/>
              <a:t>difficult</a:t>
            </a:r>
            <a:r>
              <a:rPr lang="it-IT"/>
              <a:t> to </a:t>
            </a:r>
            <a:r>
              <a:rPr lang="it-IT" err="1"/>
              <a:t>understand</a:t>
            </a:r>
            <a:r>
              <a:rPr lang="it-IT"/>
              <a:t>.</a:t>
            </a:r>
          </a:p>
          <a:p>
            <a:r>
              <a:rPr lang="it-IT"/>
              <a:t>The second </a:t>
            </a:r>
            <a:r>
              <a:rPr lang="it-IT" err="1"/>
              <a:t>is</a:t>
            </a:r>
            <a:r>
              <a:rPr lang="it-IT"/>
              <a:t> market adoption. Students </a:t>
            </a:r>
            <a:r>
              <a:rPr lang="it-IT" err="1"/>
              <a:t>may</a:t>
            </a:r>
            <a:r>
              <a:rPr lang="it-IT"/>
              <a:t> continue to use </a:t>
            </a:r>
            <a:r>
              <a:rPr lang="it-IT" err="1"/>
              <a:t>generic</a:t>
            </a:r>
            <a:r>
              <a:rPr lang="it-IT"/>
              <a:t> AI tools </a:t>
            </a:r>
            <a:r>
              <a:rPr lang="it-IT" err="1"/>
              <a:t>unless</a:t>
            </a:r>
            <a:r>
              <a:rPr lang="it-IT"/>
              <a:t> </a:t>
            </a:r>
            <a:r>
              <a:rPr lang="it-IT" err="1"/>
              <a:t>EducationSphere</a:t>
            </a:r>
            <a:r>
              <a:rPr lang="it-IT"/>
              <a:t> </a:t>
            </a:r>
            <a:r>
              <a:rPr lang="it-IT" err="1"/>
              <a:t>provides</a:t>
            </a:r>
            <a:r>
              <a:rPr lang="it-IT"/>
              <a:t> a clear and </a:t>
            </a:r>
            <a:r>
              <a:rPr lang="it-IT" err="1"/>
              <a:t>measurable</a:t>
            </a:r>
            <a:r>
              <a:rPr lang="it-IT"/>
              <a:t> </a:t>
            </a:r>
            <a:r>
              <a:rPr lang="it-IT" err="1"/>
              <a:t>advantage</a:t>
            </a:r>
            <a:r>
              <a:rPr lang="it-IT"/>
              <a:t>.</a:t>
            </a:r>
          </a:p>
          <a:p>
            <a:r>
              <a:rPr lang="it-IT"/>
              <a:t>The </a:t>
            </a:r>
            <a:r>
              <a:rPr lang="it-IT" err="1"/>
              <a:t>third</a:t>
            </a:r>
            <a:r>
              <a:rPr lang="it-IT"/>
              <a:t> risk </a:t>
            </a:r>
            <a:r>
              <a:rPr lang="it-IT" err="1"/>
              <a:t>concerns</a:t>
            </a:r>
            <a:r>
              <a:rPr lang="it-IT"/>
              <a:t> </a:t>
            </a:r>
            <a:r>
              <a:rPr lang="it-IT" err="1"/>
              <a:t>technological</a:t>
            </a:r>
            <a:r>
              <a:rPr lang="it-IT"/>
              <a:t> reliability. </a:t>
            </a:r>
            <a:r>
              <a:rPr lang="it-IT" err="1"/>
              <a:t>Incorrect</a:t>
            </a:r>
            <a:r>
              <a:rPr lang="it-IT"/>
              <a:t> </a:t>
            </a:r>
            <a:r>
              <a:rPr lang="it-IT" err="1"/>
              <a:t>answers</a:t>
            </a:r>
            <a:r>
              <a:rPr lang="it-IT"/>
              <a:t> or </a:t>
            </a:r>
            <a:r>
              <a:rPr lang="it-IT" err="1"/>
              <a:t>poor</a:t>
            </a:r>
            <a:r>
              <a:rPr lang="it-IT"/>
              <a:t> </a:t>
            </a:r>
            <a:r>
              <a:rPr lang="it-IT" err="1"/>
              <a:t>interpretation</a:t>
            </a:r>
            <a:r>
              <a:rPr lang="it-IT"/>
              <a:t> of </a:t>
            </a:r>
            <a:r>
              <a:rPr lang="it-IT" err="1"/>
              <a:t>course</a:t>
            </a:r>
            <a:r>
              <a:rPr lang="it-IT"/>
              <a:t> </a:t>
            </a:r>
            <a:r>
              <a:rPr lang="it-IT" err="1"/>
              <a:t>materials</a:t>
            </a:r>
            <a:r>
              <a:rPr lang="it-IT"/>
              <a:t> </a:t>
            </a:r>
            <a:r>
              <a:rPr lang="it-IT" err="1"/>
              <a:t>would</a:t>
            </a:r>
            <a:r>
              <a:rPr lang="it-IT"/>
              <a:t> </a:t>
            </a:r>
            <a:r>
              <a:rPr lang="it-IT" err="1"/>
              <a:t>seriously</a:t>
            </a:r>
            <a:r>
              <a:rPr lang="it-IT"/>
              <a:t> </a:t>
            </a:r>
            <a:r>
              <a:rPr lang="it-IT" err="1"/>
              <a:t>damage</a:t>
            </a:r>
            <a:r>
              <a:rPr lang="it-IT"/>
              <a:t> </a:t>
            </a:r>
            <a:r>
              <a:rPr lang="it-IT" err="1"/>
              <a:t>student</a:t>
            </a:r>
            <a:r>
              <a:rPr lang="it-IT"/>
              <a:t> trust.</a:t>
            </a:r>
          </a:p>
          <a:p>
            <a:r>
              <a:rPr lang="it-IT" err="1"/>
              <a:t>We</a:t>
            </a:r>
            <a:r>
              <a:rPr lang="it-IT"/>
              <a:t> must </a:t>
            </a:r>
            <a:r>
              <a:rPr lang="it-IT" err="1"/>
              <a:t>also</a:t>
            </a:r>
            <a:r>
              <a:rPr lang="it-IT"/>
              <a:t> </a:t>
            </a:r>
            <a:r>
              <a:rPr lang="it-IT" err="1"/>
              <a:t>manage</a:t>
            </a:r>
            <a:r>
              <a:rPr lang="it-IT"/>
              <a:t> </a:t>
            </a:r>
            <a:r>
              <a:rPr lang="it-IT" err="1"/>
              <a:t>ethical</a:t>
            </a:r>
            <a:r>
              <a:rPr lang="it-IT"/>
              <a:t> and </a:t>
            </a:r>
            <a:r>
              <a:rPr lang="it-IT" err="1"/>
              <a:t>legal</a:t>
            </a:r>
            <a:r>
              <a:rPr lang="it-IT"/>
              <a:t> </a:t>
            </a:r>
            <a:r>
              <a:rPr lang="it-IT" err="1"/>
              <a:t>barriers</a:t>
            </a:r>
            <a:r>
              <a:rPr lang="it-IT"/>
              <a:t> </a:t>
            </a:r>
            <a:r>
              <a:rPr lang="it-IT" err="1"/>
              <a:t>related</a:t>
            </a:r>
            <a:r>
              <a:rPr lang="it-IT"/>
              <a:t> to GDPR, privacy, copyright, </a:t>
            </a:r>
            <a:r>
              <a:rPr lang="it-IT" err="1"/>
              <a:t>academic</a:t>
            </a:r>
            <a:r>
              <a:rPr lang="it-IT"/>
              <a:t> </a:t>
            </a:r>
            <a:r>
              <a:rPr lang="it-IT" err="1"/>
              <a:t>integrity</a:t>
            </a:r>
            <a:r>
              <a:rPr lang="it-IT"/>
              <a:t>, and the use of </a:t>
            </a:r>
            <a:r>
              <a:rPr lang="it-IT" err="1"/>
              <a:t>student</a:t>
            </a:r>
            <a:r>
              <a:rPr lang="it-IT"/>
              <a:t> data.</a:t>
            </a:r>
          </a:p>
          <a:p>
            <a:r>
              <a:rPr lang="it-IT" err="1"/>
              <a:t>Finally</a:t>
            </a:r>
            <a:r>
              <a:rPr lang="it-IT"/>
              <a:t>, AI and cloud costs </a:t>
            </a:r>
            <a:r>
              <a:rPr lang="it-IT" err="1"/>
              <a:t>could</a:t>
            </a:r>
            <a:r>
              <a:rPr lang="it-IT"/>
              <a:t> </a:t>
            </a:r>
            <a:r>
              <a:rPr lang="it-IT" err="1"/>
              <a:t>grow</a:t>
            </a:r>
            <a:r>
              <a:rPr lang="it-IT"/>
              <a:t> </a:t>
            </a:r>
            <a:r>
              <a:rPr lang="it-IT" err="1"/>
              <a:t>faster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revenues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usage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carefully</a:t>
            </a:r>
            <a:r>
              <a:rPr lang="it-IT"/>
              <a:t> </a:t>
            </a:r>
            <a:r>
              <a:rPr lang="it-IT" err="1"/>
              <a:t>controlled</a:t>
            </a:r>
            <a:r>
              <a:rPr lang="it-IT"/>
              <a:t>.</a:t>
            </a:r>
          </a:p>
          <a:p>
            <a:r>
              <a:rPr lang="it-IT"/>
              <a:t>For </a:t>
            </a:r>
            <a:r>
              <a:rPr lang="it-IT" err="1"/>
              <a:t>these</a:t>
            </a:r>
            <a:r>
              <a:rPr lang="it-IT"/>
              <a:t> </a:t>
            </a:r>
            <a:r>
              <a:rPr lang="it-IT" err="1"/>
              <a:t>reasons</a:t>
            </a:r>
            <a:r>
              <a:rPr lang="it-IT"/>
              <a:t>, </a:t>
            </a:r>
            <a:r>
              <a:rPr lang="it-IT" err="1"/>
              <a:t>our</a:t>
            </a:r>
            <a:r>
              <a:rPr lang="it-IT"/>
              <a:t> strategy </a:t>
            </a:r>
            <a:r>
              <a:rPr lang="it-IT" err="1"/>
              <a:t>is</a:t>
            </a:r>
            <a:r>
              <a:rPr lang="it-IT"/>
              <a:t> to </a:t>
            </a:r>
            <a:r>
              <a:rPr lang="it-IT" err="1"/>
              <a:t>begin</a:t>
            </a:r>
            <a:r>
              <a:rPr lang="it-IT"/>
              <a:t> with a </a:t>
            </a:r>
            <a:r>
              <a:rPr lang="it-IT" err="1"/>
              <a:t>focused</a:t>
            </a:r>
            <a:r>
              <a:rPr lang="it-IT"/>
              <a:t> MVP, test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through</a:t>
            </a:r>
            <a:r>
              <a:rPr lang="it-IT"/>
              <a:t> small </a:t>
            </a:r>
            <a:r>
              <a:rPr lang="it-IT" err="1"/>
              <a:t>university</a:t>
            </a:r>
            <a:r>
              <a:rPr lang="it-IT"/>
              <a:t> </a:t>
            </a:r>
            <a:r>
              <a:rPr lang="it-IT" err="1"/>
              <a:t>pilots</a:t>
            </a:r>
            <a:r>
              <a:rPr lang="it-IT"/>
              <a:t>, </a:t>
            </a:r>
            <a:r>
              <a:rPr lang="it-IT" err="1"/>
              <a:t>measure</a:t>
            </a:r>
            <a:r>
              <a:rPr lang="it-IT"/>
              <a:t> </a:t>
            </a:r>
            <a:r>
              <a:rPr lang="it-IT" err="1"/>
              <a:t>repeated</a:t>
            </a:r>
            <a:r>
              <a:rPr lang="it-IT"/>
              <a:t> </a:t>
            </a:r>
            <a:r>
              <a:rPr lang="it-IT" err="1"/>
              <a:t>usage</a:t>
            </a:r>
            <a:r>
              <a:rPr lang="it-IT"/>
              <a:t> and trust, and </a:t>
            </a:r>
            <a:r>
              <a:rPr lang="it-IT" err="1"/>
              <a:t>gradually</a:t>
            </a:r>
            <a:r>
              <a:rPr lang="it-IT"/>
              <a:t> </a:t>
            </a:r>
            <a:r>
              <a:rPr lang="it-IT" err="1"/>
              <a:t>expand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after </a:t>
            </a:r>
            <a:r>
              <a:rPr lang="it-IT" err="1"/>
              <a:t>validating</a:t>
            </a:r>
            <a:r>
              <a:rPr lang="it-IT"/>
              <a:t> the </a:t>
            </a:r>
            <a:r>
              <a:rPr lang="it-IT" err="1"/>
              <a:t>strongest</a:t>
            </a:r>
            <a:r>
              <a:rPr lang="it-IT"/>
              <a:t> features.</a:t>
            </a:r>
          </a:p>
          <a:p>
            <a:r>
              <a:rPr lang="it-IT" err="1"/>
              <a:t>EducationSphere’s</a:t>
            </a:r>
            <a:r>
              <a:rPr lang="it-IT"/>
              <a:t> </a:t>
            </a:r>
            <a:r>
              <a:rPr lang="it-IT" err="1"/>
              <a:t>final</a:t>
            </a:r>
            <a:r>
              <a:rPr lang="it-IT"/>
              <a:t> promise </a:t>
            </a:r>
            <a:r>
              <a:rPr lang="it-IT" err="1"/>
              <a:t>is</a:t>
            </a:r>
            <a:r>
              <a:rPr lang="it-IT"/>
              <a:t>: </a:t>
            </a:r>
            <a:r>
              <a:rPr lang="it-IT" err="1"/>
              <a:t>discover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gaps and ace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exams</a:t>
            </a:r>
            <a:r>
              <a:rPr lang="it-IT"/>
              <a:t>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CEF6254-6446-A546-C0C1-D04F5A6A36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1956" y="4355090"/>
            <a:ext cx="700087" cy="7000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823963"/>
            <a:ext cx="80308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EducationSphere</a:t>
            </a:r>
            <a:endParaRPr lang="en-US" sz="2750"/>
          </a:p>
        </p:txBody>
      </p:sp>
      <p:sp>
        <p:nvSpPr>
          <p:cNvPr id="4" name="Text 1"/>
          <p:cNvSpPr/>
          <p:nvPr/>
        </p:nvSpPr>
        <p:spPr>
          <a:xfrm>
            <a:off x="496119" y="2479551"/>
            <a:ext cx="8090320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and Project Management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Correnti Mattia &amp; Ladu Francesco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A.A. 2025/2026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7119"/>
            <a:ext cx="4332982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Students’ Problems</a:t>
            </a:r>
            <a:endParaRPr lang="en-US" sz="2650"/>
          </a:p>
        </p:txBody>
      </p:sp>
      <p:sp>
        <p:nvSpPr>
          <p:cNvPr id="4" name="Shape 1"/>
          <p:cNvSpPr/>
          <p:nvPr/>
        </p:nvSpPr>
        <p:spPr>
          <a:xfrm>
            <a:off x="3925119" y="1022598"/>
            <a:ext cx="4722763" cy="99022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4064943" y="116242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Management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064943" y="1450777"/>
            <a:ext cx="444311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Multiple subjects, tight deadlines, and academic pressure make it difficult to get organized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3925119" y="2141562"/>
            <a:ext cx="4722763" cy="779115"/>
          </a:xfrm>
          <a:prstGeom prst="roundRect">
            <a:avLst>
              <a:gd name="adj" fmla="val 1560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064943" y="2281386"/>
            <a:ext cx="16914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Materials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4064943" y="2569741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Scattered study contents, difficult to organize and prioritize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3925119" y="3049414"/>
            <a:ext cx="4722763" cy="779115"/>
          </a:xfrm>
          <a:prstGeom prst="roundRect">
            <a:avLst>
              <a:gd name="adj" fmla="val 1560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064943" y="318923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Anxiety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4064943" y="3477592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Fear of failure and uncertainty about one's actual preparation.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3925119" y="3957265"/>
            <a:ext cx="4722763" cy="779115"/>
          </a:xfrm>
          <a:prstGeom prst="roundRect">
            <a:avLst>
              <a:gd name="adj" fmla="val 1560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064943" y="4097089"/>
            <a:ext cx="21570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Procrastination and Burnout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4064943" y="4385444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Rigid routines and lack of personalized guidance increase the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91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EducationSphere</a:t>
            </a: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an AI platform for exam preparation, featuring five main functionalities:</a:t>
            </a:r>
            <a:endParaRPr lang="en-US" sz="11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94706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20016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Course-Grounded Tutor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Answers, summaries, and quizzes based on course materials.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69470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Twin AI</a:t>
            </a:r>
            <a:endParaRPr lang="en-US" sz="1350"/>
          </a:p>
        </p:txBody>
      </p:sp>
      <p:sp>
        <p:nvSpPr>
          <p:cNvPr id="9" name="Text 5"/>
          <p:cNvSpPr/>
          <p:nvPr/>
        </p:nvSpPr>
        <p:spPr>
          <a:xfrm>
            <a:off x="3272433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Realistic simulations of written and oral exams.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694706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Gap Map</a:t>
            </a:r>
            <a:endParaRPr lang="en-US" sz="1350"/>
          </a:p>
        </p:txBody>
      </p:sp>
      <p:sp>
        <p:nvSpPr>
          <p:cNvPr id="12" name="Text 7"/>
          <p:cNvSpPr/>
          <p:nvPr/>
        </p:nvSpPr>
        <p:spPr>
          <a:xfrm>
            <a:off x="6048747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Identifies weak topics and missing prerequisites.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69903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801442"/>
            <a:ext cx="18939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Study Engine</a:t>
            </a:r>
            <a:endParaRPr lang="en-US" sz="1350"/>
          </a:p>
        </p:txBody>
      </p:sp>
      <p:sp>
        <p:nvSpPr>
          <p:cNvPr id="15" name="Text 9"/>
          <p:cNvSpPr/>
          <p:nvPr/>
        </p:nvSpPr>
        <p:spPr>
          <a:xfrm>
            <a:off x="496119" y="410795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Study plan updated based on time, exam date, and results.</a:t>
            </a: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269903"/>
            <a:ext cx="354360" cy="354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801442"/>
            <a:ext cx="22246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Learning Mode</a:t>
            </a:r>
            <a:endParaRPr lang="en-US" sz="1350"/>
          </a:p>
        </p:txBody>
      </p:sp>
      <p:sp>
        <p:nvSpPr>
          <p:cNvPr id="18" name="Text 11"/>
          <p:cNvSpPr/>
          <p:nvPr/>
        </p:nvSpPr>
        <p:spPr>
          <a:xfrm>
            <a:off x="3272433" y="4107954"/>
            <a:ext cx="2599134" cy="45362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Contents adapted for ADHD, dyslexia, dyscalculia, and other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098"/>
            <a:ext cx="532402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and Positioning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96119" y="1212726"/>
            <a:ext cx="218569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the competitors are</a:t>
            </a:r>
            <a:endParaRPr lang="en-US" sz="13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76908"/>
            <a:ext cx="1906712" cy="13091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9613" y="1733252"/>
            <a:ext cx="151782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Startups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709613" y="2080766"/>
            <a:ext cx="151782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Apps with AI-based study support.</a:t>
            </a:r>
            <a:endParaRPr lang="en-US" sz="10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7708" y="1576908"/>
            <a:ext cx="1906786" cy="13091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0252" y="1733252"/>
            <a:ext cx="151789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 Incumbents</a:t>
            </a:r>
            <a:endParaRPr lang="en-US" sz="1350"/>
          </a:p>
        </p:txBody>
      </p:sp>
      <p:sp>
        <p:nvSpPr>
          <p:cNvPr id="9" name="Text 5"/>
          <p:cNvSpPr/>
          <p:nvPr/>
        </p:nvSpPr>
        <p:spPr>
          <a:xfrm>
            <a:off x="2730252" y="2080766"/>
            <a:ext cx="1517898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Established platforms with large content libraries.</a:t>
            </a:r>
            <a:endParaRPr lang="en-US" sz="105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019053"/>
            <a:ext cx="1906712" cy="15237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9613" y="3175397"/>
            <a:ext cx="151782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Indirect Competitors</a:t>
            </a:r>
            <a:endParaRPr lang="en-US" sz="1350"/>
          </a:p>
        </p:txBody>
      </p:sp>
      <p:sp>
        <p:nvSpPr>
          <p:cNvPr id="12" name="Text 7"/>
          <p:cNvSpPr/>
          <p:nvPr/>
        </p:nvSpPr>
        <p:spPr>
          <a:xfrm>
            <a:off x="709613" y="3737446"/>
            <a:ext cx="151782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ChatGPT, YouTube, search engines, and forums.</a:t>
            </a:r>
            <a:endParaRPr lang="en-US" sz="105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7708" y="3019053"/>
            <a:ext cx="1906786" cy="15237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0252" y="3175397"/>
            <a:ext cx="151789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Non-AI Substitutes</a:t>
            </a:r>
            <a:endParaRPr lang="en-US" sz="1350"/>
          </a:p>
        </p:txBody>
      </p:sp>
      <p:sp>
        <p:nvSpPr>
          <p:cNvPr id="15" name="Text 9"/>
          <p:cNvSpPr/>
          <p:nvPr/>
        </p:nvSpPr>
        <p:spPr>
          <a:xfrm>
            <a:off x="2730252" y="3522911"/>
            <a:ext cx="1517898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tutors, textbooks, and LMS platforms.</a:t>
            </a:r>
            <a:endParaRPr lang="en-US" sz="1050"/>
          </a:p>
        </p:txBody>
      </p:sp>
      <p:sp>
        <p:nvSpPr>
          <p:cNvPr id="16" name="Text 10"/>
          <p:cNvSpPr/>
          <p:nvPr/>
        </p:nvSpPr>
        <p:spPr>
          <a:xfrm>
            <a:off x="4744269" y="121272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advantage</a:t>
            </a:r>
            <a:endParaRPr lang="en-US" sz="1350"/>
          </a:p>
        </p:txBody>
      </p:sp>
      <p:sp>
        <p:nvSpPr>
          <p:cNvPr id="17" name="Text 11"/>
          <p:cNvSpPr/>
          <p:nvPr/>
        </p:nvSpPr>
        <p:spPr>
          <a:xfrm>
            <a:off x="4744269" y="1560240"/>
            <a:ext cx="3908375" cy="126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Guided paths, not isolated answers</a:t>
            </a:r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Adaptive explanations and exam simulations</a:t>
            </a:r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 support at a fraction of a 1-on-1 tutor</a:t>
            </a:r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Explanations from approved university materials</a:t>
            </a:r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Privacy, copyright, and institutional governance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30932"/>
            <a:ext cx="497733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 — Part 1</a:t>
            </a:r>
            <a:endParaRPr lang="en-US" sz="2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963885"/>
            <a:ext cx="7794947" cy="6777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559" y="1218009"/>
            <a:ext cx="169441" cy="1694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0585" y="109113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</a:t>
            </a:r>
            <a:endParaRPr lang="en-US" sz="1100"/>
          </a:p>
        </p:txBody>
      </p:sp>
      <p:sp>
        <p:nvSpPr>
          <p:cNvPr id="6" name="Text 2"/>
          <p:cNvSpPr/>
          <p:nvPr/>
        </p:nvSpPr>
        <p:spPr>
          <a:xfrm>
            <a:off x="1230585" y="132159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University students, students with accessibility needs, universities, SLD (Specific Learning Disabilities) offices, tutoring services.</a:t>
            </a:r>
            <a:endParaRPr lang="en-US" sz="8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1731615"/>
            <a:ext cx="7794947" cy="67776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559" y="1985739"/>
            <a:ext cx="169441" cy="16944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30585" y="18588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</a:t>
            </a:r>
            <a:endParaRPr lang="en-US" sz="1100"/>
          </a:p>
        </p:txBody>
      </p:sp>
      <p:sp>
        <p:nvSpPr>
          <p:cNvPr id="10" name="Text 4"/>
          <p:cNvSpPr/>
          <p:nvPr/>
        </p:nvSpPr>
        <p:spPr>
          <a:xfrm>
            <a:off x="1230585" y="208932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Course-based exam preparation, summaries, quizzes, simulations, step-by-step explanations, and accessible mode.</a:t>
            </a:r>
            <a:endParaRPr lang="en-US" sz="85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2499345"/>
            <a:ext cx="7794947" cy="67776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59" y="2753469"/>
            <a:ext cx="169441" cy="16944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30585" y="262659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1100"/>
          </a:p>
        </p:txBody>
      </p:sp>
      <p:sp>
        <p:nvSpPr>
          <p:cNvPr id="14" name="Text 6"/>
          <p:cNvSpPr/>
          <p:nvPr/>
        </p:nvSpPr>
        <p:spPr>
          <a:xfrm>
            <a:off x="1230585" y="285705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University pilots, SLD offices, freemium access, social media, student referrals.</a:t>
            </a:r>
            <a:endParaRPr lang="en-US" sz="85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3267075"/>
            <a:ext cx="7794947" cy="67776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559" y="3521199"/>
            <a:ext cx="169441" cy="16944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30585" y="3394323"/>
            <a:ext cx="14184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Relationships</a:t>
            </a:r>
            <a:endParaRPr lang="en-US" sz="1100"/>
          </a:p>
        </p:txBody>
      </p:sp>
      <p:sp>
        <p:nvSpPr>
          <p:cNvPr id="18" name="Text 8"/>
          <p:cNvSpPr/>
          <p:nvPr/>
        </p:nvSpPr>
        <p:spPr>
          <a:xfrm>
            <a:off x="1230585" y="362478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Adaptive study companion, non-judgmental UX, evidence-based reports, collaboration with university staff.</a:t>
            </a:r>
            <a:endParaRPr lang="en-US" sz="85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4034805"/>
            <a:ext cx="7794947" cy="67776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59" y="4288929"/>
            <a:ext cx="169441" cy="16944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30585" y="416205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Streams</a:t>
            </a:r>
            <a:endParaRPr lang="en-US" sz="1100"/>
          </a:p>
        </p:txBody>
      </p:sp>
      <p:sp>
        <p:nvSpPr>
          <p:cNvPr id="22" name="Text 10"/>
          <p:cNvSpPr/>
          <p:nvPr/>
        </p:nvSpPr>
        <p:spPr>
          <a:xfrm>
            <a:off x="1230585" y="439251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Institutional pilot contracts, annual licenses, freemium → premium plan for students.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585"/>
            <a:ext cx="62010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 — Part 2</a:t>
            </a:r>
            <a:endParaRPr lang="en-US" sz="2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57089"/>
            <a:ext cx="4004965" cy="150703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263" y="1480021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Partners</a:t>
            </a:r>
            <a:endParaRPr lang="en-US" sz="1350"/>
          </a:p>
        </p:txBody>
      </p:sp>
      <p:sp>
        <p:nvSpPr>
          <p:cNvPr id="6" name="Text 2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Universities, SLD offices, tutoring services, AI/cloud providers, accessibility and legal experts.</a:t>
            </a:r>
            <a:endParaRPr lang="en-US" sz="11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357089"/>
            <a:ext cx="4005039" cy="150703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9061" y="1480021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803651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Activities</a:t>
            </a:r>
            <a:endParaRPr lang="en-US" sz="1350"/>
          </a:p>
        </p:txBody>
      </p:sp>
      <p:sp>
        <p:nvSpPr>
          <p:cNvPr id="10" name="Text 4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platform development, outputs validation, pilots management, data governance, and institutional partnerships</a:t>
            </a:r>
            <a:endParaRPr lang="en-US" sz="110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0703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2263" y="3128814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56927" y="35919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Resources</a:t>
            </a:r>
            <a:endParaRPr lang="en-US" sz="1350"/>
          </a:p>
        </p:txBody>
      </p:sp>
      <p:sp>
        <p:nvSpPr>
          <p:cNvPr id="14" name="Text 6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AI/software team, educational and accessibility expertise, institutional relations, secure cloud infrastructure.</a:t>
            </a:r>
            <a:endParaRPr lang="en-US" sz="110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0703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9061" y="3128814"/>
            <a:ext cx="212601" cy="21260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03651" y="35919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Structure</a:t>
            </a:r>
            <a:endParaRPr lang="en-US" sz="1350"/>
          </a:p>
        </p:txBody>
      </p:sp>
      <p:sp>
        <p:nvSpPr>
          <p:cNvPr id="18" name="Text 8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development, AI/cloud costs, educational validation, legal/privacy compliance, marketing, and referrals.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708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Market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496119" y="21544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€100M</a:t>
            </a:r>
            <a:endParaRPr lang="en-US" sz="3650"/>
          </a:p>
        </p:txBody>
      </p:sp>
      <p:sp>
        <p:nvSpPr>
          <p:cNvPr id="4" name="Text 2"/>
          <p:cNvSpPr/>
          <p:nvPr/>
        </p:nvSpPr>
        <p:spPr>
          <a:xfrm>
            <a:off x="909637" y="27993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— Europe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96119" y="310589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5,000 institutions × €20k average license. Alternative student potential: €188M (18.8M students).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272433" y="21544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€1,5M</a:t>
            </a:r>
            <a:endParaRPr lang="en-US" sz="3650"/>
          </a:p>
        </p:txBody>
      </p:sp>
      <p:sp>
        <p:nvSpPr>
          <p:cNvPr id="7" name="Text 5"/>
          <p:cNvSpPr/>
          <p:nvPr/>
        </p:nvSpPr>
        <p:spPr>
          <a:xfrm>
            <a:off x="3685952" y="27993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— Italy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3272433" y="310589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Italian universities × €15k average license.</a:t>
            </a:r>
          </a:p>
        </p:txBody>
      </p:sp>
      <p:sp>
        <p:nvSpPr>
          <p:cNvPr id="9" name="Text 7"/>
          <p:cNvSpPr/>
          <p:nvPr/>
        </p:nvSpPr>
        <p:spPr>
          <a:xfrm>
            <a:off x="6048747" y="215443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€9K</a:t>
            </a:r>
            <a:endParaRPr lang="en-US" sz="3650"/>
          </a:p>
        </p:txBody>
      </p:sp>
      <p:sp>
        <p:nvSpPr>
          <p:cNvPr id="10" name="Text 8"/>
          <p:cNvSpPr/>
          <p:nvPr/>
        </p:nvSpPr>
        <p:spPr>
          <a:xfrm>
            <a:off x="6167810" y="2799383"/>
            <a:ext cx="23609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— Immediate Target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048747" y="3105894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pilot institutions × €3k pilot license.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7000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</a:t>
            </a:r>
            <a:endParaRPr lang="en-US" sz="2700"/>
          </a:p>
        </p:txBody>
      </p:sp>
      <p:sp>
        <p:nvSpPr>
          <p:cNvPr id="4" name="Shape 1"/>
          <p:cNvSpPr/>
          <p:nvPr/>
        </p:nvSpPr>
        <p:spPr>
          <a:xfrm>
            <a:off x="496119" y="1155650"/>
            <a:ext cx="2294855" cy="2095649"/>
          </a:xfrm>
          <a:prstGeom prst="roundRect">
            <a:avLst>
              <a:gd name="adj" fmla="val 589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638175" y="1297707"/>
            <a:ext cx="2010742" cy="43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🔬</a:t>
            </a: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Problem-Solver (STEM)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638175" y="1811313"/>
            <a:ext cx="2010742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Needs step-by-step logic; frustrated by generic AI hallucinations.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Tutor based on courses and exercise breakdown.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2923952" y="1155650"/>
            <a:ext cx="2294930" cy="2095649"/>
          </a:xfrm>
          <a:prstGeom prst="roundRect">
            <a:avLst>
              <a:gd name="adj" fmla="val 589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066008" y="1297707"/>
            <a:ext cx="2010817" cy="43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</a:t>
            </a: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Exam-Ready (Generic)</a:t>
            </a:r>
          </a:p>
        </p:txBody>
      </p:sp>
      <p:sp>
        <p:nvSpPr>
          <p:cNvPr id="9" name="Text 6"/>
          <p:cNvSpPr/>
          <p:nvPr/>
        </p:nvSpPr>
        <p:spPr>
          <a:xfrm>
            <a:off x="3066008" y="1811313"/>
            <a:ext cx="2010817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Problem: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Uncertain about their preparation; frustrated by generic simulations.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Professor-style simulations and Knowledge Gap Map.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96119" y="3384277"/>
            <a:ext cx="4722763" cy="1232148"/>
          </a:xfrm>
          <a:prstGeom prst="roundRect">
            <a:avLst>
              <a:gd name="adj" fmla="val 1003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38175" y="3526334"/>
            <a:ext cx="2000027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♿</a:t>
            </a: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Accessible Learner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638175" y="3825404"/>
            <a:ext cx="443865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Overwhelmed by dense texts; needs adaptive and accessible formats.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Solution: </a:t>
            </a:r>
            <a:r>
              <a:rPr lang="en-US" sz="105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Micro-goals, visual summaries, and text-to-speech support.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9727"/>
            <a:ext cx="43792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Strategy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496119" y="1467073"/>
            <a:ext cx="24465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1 &amp; 2 — Survey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496119" y="183028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Forms survey among university students on the use of AI tools.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96119" y="2411462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79% use AI daily for studying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Generic chatbots are perceived as incomplete and unreliable for exams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validated features: step-by-step explanations, quizzes from course materials, realistic simulations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4749701" y="1467073"/>
            <a:ext cx="29579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3 —  Direct Interview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4749701" y="183028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with a blind Computer Engineering student.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749701" y="2184648"/>
            <a:ext cx="3902943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main barrier is the </a:t>
            </a:r>
            <a:r>
              <a:rPr lang="en-US" sz="1100" b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technical inaccessibility </a:t>
            </a: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academic materials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Need: accessible transformation of PDFs, slides, formulas, graphs, and images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Reliable interpretation of mathematical contents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reader compatibility and keyboard navigation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University endorsement and validation from accessibility experts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727"/>
            <a:ext cx="56269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Analysis and Conclusions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234232"/>
            <a:ext cx="264177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395040"/>
            <a:ext cx="19710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Alignment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714077" y="170155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 many features without focus on the most validated ones.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234232"/>
            <a:ext cx="264177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13950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Adoption</a:t>
            </a:r>
            <a:endParaRPr lang="en-US" sz="1350"/>
          </a:p>
        </p:txBody>
      </p:sp>
      <p:sp>
        <p:nvSpPr>
          <p:cNvPr id="8" name="Text 4"/>
          <p:cNvSpPr/>
          <p:nvPr/>
        </p:nvSpPr>
        <p:spPr>
          <a:xfrm>
            <a:off x="3478560" y="170155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might prefer generic AI tools.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234232"/>
            <a:ext cx="264177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1395040"/>
            <a:ext cx="19168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Technological Reliability</a:t>
            </a:r>
            <a:endParaRPr lang="en-US" sz="1350"/>
          </a:p>
        </p:txBody>
      </p:sp>
      <p:sp>
        <p:nvSpPr>
          <p:cNvPr id="11" name="Text 6"/>
          <p:cNvSpPr/>
          <p:nvPr/>
        </p:nvSpPr>
        <p:spPr>
          <a:xfrm>
            <a:off x="6243042" y="170155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Inaccurate AI outputs or not anchored to course materials.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2457748"/>
            <a:ext cx="264177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077" y="26185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Ethical-Legal Barriers</a:t>
            </a:r>
            <a:endParaRPr lang="en-US" sz="1350"/>
          </a:p>
        </p:txBody>
      </p:sp>
      <p:sp>
        <p:nvSpPr>
          <p:cNvPr id="14" name="Text 8"/>
          <p:cNvSpPr/>
          <p:nvPr/>
        </p:nvSpPr>
        <p:spPr>
          <a:xfrm>
            <a:off x="714077" y="292506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Privacy, copyright, GDPR, and academic integrity.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457748"/>
            <a:ext cx="264177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78560" y="26185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Costs</a:t>
            </a:r>
            <a:endParaRPr lang="en-US" sz="1350"/>
          </a:p>
        </p:txBody>
      </p:sp>
      <p:sp>
        <p:nvSpPr>
          <p:cNvPr id="17" name="Text 10"/>
          <p:cNvSpPr/>
          <p:nvPr/>
        </p:nvSpPr>
        <p:spPr>
          <a:xfrm>
            <a:off x="3478560" y="2925068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AI/cloud costs could grow faster than revenues.</a:t>
            </a:r>
          </a:p>
        </p:txBody>
      </p:sp>
      <p:sp>
        <p:nvSpPr>
          <p:cNvPr id="18" name="Shape 11"/>
          <p:cNvSpPr/>
          <p:nvPr/>
        </p:nvSpPr>
        <p:spPr>
          <a:xfrm>
            <a:off x="496119" y="3925788"/>
            <a:ext cx="19050" cy="550515"/>
          </a:xfrm>
          <a:prstGeom prst="roundRect">
            <a:avLst>
              <a:gd name="adj" fmla="val 6000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2"/>
          <p:cNvSpPr/>
          <p:nvPr/>
        </p:nvSpPr>
        <p:spPr>
          <a:xfrm>
            <a:off x="708720" y="4085258"/>
            <a:ext cx="839636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EducationSphere</a:t>
            </a:r>
            <a:r>
              <a:rPr lang="en-US" sz="110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Discover your gaps, ace your exams!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2405</Words>
  <Application>Microsoft Office PowerPoint</Application>
  <PresentationFormat>Presentazione su schermo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Inter</vt:lpstr>
      <vt:lpstr>Manrope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Francesco Ladu</dc:creator>
  <cp:lastModifiedBy>Francesco Ladu</cp:lastModifiedBy>
  <cp:revision>1</cp:revision>
  <dcterms:created xsi:type="dcterms:W3CDTF">2026-06-20T07:37:20Z</dcterms:created>
  <dcterms:modified xsi:type="dcterms:W3CDTF">2026-06-22T07:34:25Z</dcterms:modified>
</cp:coreProperties>
</file>